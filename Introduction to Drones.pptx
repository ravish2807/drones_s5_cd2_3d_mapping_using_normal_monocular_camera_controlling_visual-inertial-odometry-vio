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DM Sans Bold" panose="020B060402020202020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  <p:embeddedFont>
      <p:font typeface="Roboto Condensed" panose="02000000000000000000" pitchFamily="2" charset="0"/>
      <p:regular r:id="rId17"/>
    </p:embeddedFont>
    <p:embeddedFont>
      <p:font typeface="Roboto Condensed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in.mathworks.com/help/uav/ref/so3.html" TargetMode="External"/><Relationship Id="rId3" Type="http://schemas.openxmlformats.org/officeDocument/2006/relationships/hyperlink" Target="https://www.mdpi.com/2504-446X/7/8/516" TargetMode="External"/><Relationship Id="rId7" Type="http://schemas.openxmlformats.org/officeDocument/2006/relationships/hyperlink" Target="https://robotics.stackexchange.com/questions/118150/how-to-communicate-between-ros2-humble-and-ros2-jazzy-seamlessly" TargetMode="External"/><Relationship Id="rId2" Type="http://schemas.openxmlformats.org/officeDocument/2006/relationships/hyperlink" Target="https://www.youtube.com/watch?v=gmHnhWYfuW0&amp;t=1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rinceton-vl/DROID-SLAM" TargetMode="External"/><Relationship Id="rId5" Type="http://schemas.openxmlformats.org/officeDocument/2006/relationships/hyperlink" Target="https://cognipilot.org" TargetMode="External"/><Relationship Id="rId4" Type="http://schemas.openxmlformats.org/officeDocument/2006/relationships/hyperlink" Target="https://github.com/vtalpaert/ros2-phone-sens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8362">
            <a:off x="10015571" y="265028"/>
            <a:ext cx="9353510" cy="5206544"/>
          </a:xfrm>
          <a:custGeom>
            <a:avLst/>
            <a:gdLst/>
            <a:ahLst/>
            <a:cxnLst/>
            <a:rect l="l" t="t" r="r" b="b"/>
            <a:pathLst>
              <a:path w="9353510" h="5206544">
                <a:moveTo>
                  <a:pt x="0" y="0"/>
                </a:moveTo>
                <a:lnTo>
                  <a:pt x="9353511" y="0"/>
                </a:lnTo>
                <a:lnTo>
                  <a:pt x="9353511" y="5206544"/>
                </a:lnTo>
                <a:lnTo>
                  <a:pt x="0" y="520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88362">
            <a:off x="-1683007" y="3690202"/>
            <a:ext cx="9353510" cy="5206544"/>
          </a:xfrm>
          <a:custGeom>
            <a:avLst/>
            <a:gdLst/>
            <a:ahLst/>
            <a:cxnLst/>
            <a:rect l="l" t="t" r="r" b="b"/>
            <a:pathLst>
              <a:path w="9353510" h="5206544">
                <a:moveTo>
                  <a:pt x="0" y="0"/>
                </a:moveTo>
                <a:lnTo>
                  <a:pt x="9353510" y="0"/>
                </a:lnTo>
                <a:lnTo>
                  <a:pt x="9353510" y="5206544"/>
                </a:lnTo>
                <a:lnTo>
                  <a:pt x="0" y="520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88362">
            <a:off x="4922788" y="2989920"/>
            <a:ext cx="11979746" cy="6668414"/>
          </a:xfrm>
          <a:custGeom>
            <a:avLst/>
            <a:gdLst/>
            <a:ahLst/>
            <a:cxnLst/>
            <a:rect l="l" t="t" r="r" b="b"/>
            <a:pathLst>
              <a:path w="11979746" h="6668414">
                <a:moveTo>
                  <a:pt x="0" y="0"/>
                </a:moveTo>
                <a:lnTo>
                  <a:pt x="11979747" y="0"/>
                </a:lnTo>
                <a:lnTo>
                  <a:pt x="11979747" y="6668413"/>
                </a:lnTo>
                <a:lnTo>
                  <a:pt x="0" y="666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74480" y="1390570"/>
            <a:ext cx="10339041" cy="7505861"/>
            <a:chOff x="0" y="0"/>
            <a:chExt cx="2723040" cy="19768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3040" cy="1976852"/>
            </a:xfrm>
            <a:custGeom>
              <a:avLst/>
              <a:gdLst/>
              <a:ahLst/>
              <a:cxnLst/>
              <a:rect l="l" t="t" r="r" b="b"/>
              <a:pathLst>
                <a:path w="2723040" h="1976852">
                  <a:moveTo>
                    <a:pt x="28455" y="0"/>
                  </a:moveTo>
                  <a:lnTo>
                    <a:pt x="2694585" y="0"/>
                  </a:lnTo>
                  <a:cubicBezTo>
                    <a:pt x="2710300" y="0"/>
                    <a:pt x="2723040" y="12740"/>
                    <a:pt x="2723040" y="28455"/>
                  </a:cubicBezTo>
                  <a:lnTo>
                    <a:pt x="2723040" y="1948398"/>
                  </a:lnTo>
                  <a:cubicBezTo>
                    <a:pt x="2723040" y="1964113"/>
                    <a:pt x="2710300" y="1976852"/>
                    <a:pt x="2694585" y="1976852"/>
                  </a:cubicBezTo>
                  <a:lnTo>
                    <a:pt x="28455" y="1976852"/>
                  </a:lnTo>
                  <a:cubicBezTo>
                    <a:pt x="12740" y="1976852"/>
                    <a:pt x="0" y="1964113"/>
                    <a:pt x="0" y="1948398"/>
                  </a:cubicBezTo>
                  <a:lnTo>
                    <a:pt x="0" y="28455"/>
                  </a:lnTo>
                  <a:cubicBezTo>
                    <a:pt x="0" y="12740"/>
                    <a:pt x="12740" y="0"/>
                    <a:pt x="28455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723040" cy="1986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74480" y="6652951"/>
            <a:ext cx="10339041" cy="3200418"/>
            <a:chOff x="0" y="0"/>
            <a:chExt cx="2723040" cy="8429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23040" cy="842909"/>
            </a:xfrm>
            <a:custGeom>
              <a:avLst/>
              <a:gdLst/>
              <a:ahLst/>
              <a:cxnLst/>
              <a:rect l="l" t="t" r="r" b="b"/>
              <a:pathLst>
                <a:path w="2723040" h="842909">
                  <a:moveTo>
                    <a:pt x="0" y="0"/>
                  </a:moveTo>
                  <a:lnTo>
                    <a:pt x="2723040" y="0"/>
                  </a:lnTo>
                  <a:lnTo>
                    <a:pt x="2723040" y="842909"/>
                  </a:lnTo>
                  <a:lnTo>
                    <a:pt x="0" y="842909"/>
                  </a:lnTo>
                  <a:close/>
                </a:path>
              </a:pathLst>
            </a:custGeom>
            <a:solidFill>
              <a:srgbClr val="F8F6F4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723040" cy="852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774984">
            <a:off x="2305123" y="544666"/>
            <a:ext cx="3625795" cy="2018265"/>
          </a:xfrm>
          <a:custGeom>
            <a:avLst/>
            <a:gdLst/>
            <a:ahLst/>
            <a:cxnLst/>
            <a:rect l="l" t="t" r="r" b="b"/>
            <a:pathLst>
              <a:path w="3625795" h="2018265">
                <a:moveTo>
                  <a:pt x="0" y="0"/>
                </a:moveTo>
                <a:lnTo>
                  <a:pt x="3625795" y="0"/>
                </a:lnTo>
                <a:lnTo>
                  <a:pt x="3625795" y="2018265"/>
                </a:lnTo>
                <a:lnTo>
                  <a:pt x="0" y="2018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28580" y="1902433"/>
            <a:ext cx="9651463" cy="446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6100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3D MAPPING OF AN ENVIRONMENT USING NORMAL MONOCULAR CAMERA AND CONTROLLING THE DRONE BY VISUAL-INERTIAL ODOMETRY (VIO)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18268" y="6745882"/>
            <a:ext cx="9651463" cy="28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900" b="1">
                <a:solidFill>
                  <a:srgbClr val="323030"/>
                </a:solidFill>
                <a:latin typeface="Roboto Bold"/>
                <a:ea typeface="Roboto Bold"/>
                <a:cs typeface="Roboto Bold"/>
                <a:sym typeface="Roboto Bold"/>
              </a:rPr>
              <a:t>Preseneted by Group CD2</a:t>
            </a:r>
          </a:p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Ravishanmugam K — CB.SC.U4AIE24347</a:t>
            </a:r>
          </a:p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Ishwarya M              — CB.SC.U4AIE24220</a:t>
            </a:r>
          </a:p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Aparna B                  — CB.SC.U4AIE24304</a:t>
            </a:r>
          </a:p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Cibikumar B             — CB.SC.U4AIE24212</a:t>
            </a:r>
          </a:p>
          <a:p>
            <a:pPr algn="ctr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Akhilan S                  — CB.SC.U4AIE24362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34242"/>
            <a:ext cx="5221355" cy="3998221"/>
            <a:chOff x="0" y="0"/>
            <a:chExt cx="1338918" cy="102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917" cy="1025268"/>
            </a:xfrm>
            <a:custGeom>
              <a:avLst/>
              <a:gdLst/>
              <a:ahLst/>
              <a:cxnLst/>
              <a:rect l="l" t="t" r="r" b="b"/>
              <a:pathLst>
                <a:path w="1338917" h="1025268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80786"/>
                  </a:lnTo>
                  <a:cubicBezTo>
                    <a:pt x="1338917" y="992583"/>
                    <a:pt x="1334231" y="1003898"/>
                    <a:pt x="1325889" y="1012240"/>
                  </a:cubicBezTo>
                  <a:cubicBezTo>
                    <a:pt x="1317547" y="1020582"/>
                    <a:pt x="1306233" y="1025268"/>
                    <a:pt x="1294435" y="1025268"/>
                  </a:cubicBezTo>
                  <a:lnTo>
                    <a:pt x="44482" y="1025268"/>
                  </a:lnTo>
                  <a:cubicBezTo>
                    <a:pt x="19915" y="1025268"/>
                    <a:pt x="0" y="1005353"/>
                    <a:pt x="0" y="980786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338918" cy="10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066794"/>
            <a:ext cx="5221355" cy="1461172"/>
            <a:chOff x="0" y="0"/>
            <a:chExt cx="1338918" cy="3746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8917" cy="374690"/>
            </a:xfrm>
            <a:custGeom>
              <a:avLst/>
              <a:gdLst/>
              <a:ahLst/>
              <a:cxnLst/>
              <a:rect l="l" t="t" r="r" b="b"/>
              <a:pathLst>
                <a:path w="1338917" h="374690">
                  <a:moveTo>
                    <a:pt x="0" y="0"/>
                  </a:moveTo>
                  <a:lnTo>
                    <a:pt x="1338917" y="0"/>
                  </a:lnTo>
                  <a:lnTo>
                    <a:pt x="1338917" y="374690"/>
                  </a:lnTo>
                  <a:lnTo>
                    <a:pt x="0" y="374690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338918" cy="39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Proposed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33323" y="5834242"/>
            <a:ext cx="5221355" cy="3998221"/>
            <a:chOff x="0" y="0"/>
            <a:chExt cx="1338918" cy="10252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8917" cy="1025268"/>
            </a:xfrm>
            <a:custGeom>
              <a:avLst/>
              <a:gdLst/>
              <a:ahLst/>
              <a:cxnLst/>
              <a:rect l="l" t="t" r="r" b="b"/>
              <a:pathLst>
                <a:path w="1338917" h="1025268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80786"/>
                  </a:lnTo>
                  <a:cubicBezTo>
                    <a:pt x="1338917" y="992583"/>
                    <a:pt x="1334231" y="1003898"/>
                    <a:pt x="1325889" y="1012240"/>
                  </a:cubicBezTo>
                  <a:cubicBezTo>
                    <a:pt x="1317547" y="1020582"/>
                    <a:pt x="1306233" y="1025268"/>
                    <a:pt x="1294435" y="1025268"/>
                  </a:cubicBezTo>
                  <a:lnTo>
                    <a:pt x="44482" y="1025268"/>
                  </a:lnTo>
                  <a:cubicBezTo>
                    <a:pt x="19915" y="1025268"/>
                    <a:pt x="0" y="1005353"/>
                    <a:pt x="0" y="980786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38918" cy="10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33323" y="4066794"/>
            <a:ext cx="5221355" cy="1461172"/>
            <a:chOff x="0" y="0"/>
            <a:chExt cx="1338918" cy="3746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8917" cy="374690"/>
            </a:xfrm>
            <a:custGeom>
              <a:avLst/>
              <a:gdLst/>
              <a:ahLst/>
              <a:cxnLst/>
              <a:rect l="l" t="t" r="r" b="b"/>
              <a:pathLst>
                <a:path w="1338917" h="374690">
                  <a:moveTo>
                    <a:pt x="0" y="0"/>
                  </a:moveTo>
                  <a:lnTo>
                    <a:pt x="1338917" y="0"/>
                  </a:lnTo>
                  <a:lnTo>
                    <a:pt x="1338917" y="374690"/>
                  </a:lnTo>
                  <a:lnTo>
                    <a:pt x="0" y="374690"/>
                  </a:lnTo>
                  <a:close/>
                </a:path>
              </a:pathLst>
            </a:custGeom>
            <a:solidFill>
              <a:srgbClr val="CDBBFF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338918" cy="39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Integration and Simulation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37945" y="5834242"/>
            <a:ext cx="5221355" cy="3998221"/>
            <a:chOff x="0" y="0"/>
            <a:chExt cx="1338918" cy="10252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8917" cy="1025268"/>
            </a:xfrm>
            <a:custGeom>
              <a:avLst/>
              <a:gdLst/>
              <a:ahLst/>
              <a:cxnLst/>
              <a:rect l="l" t="t" r="r" b="b"/>
              <a:pathLst>
                <a:path w="1338917" h="1025268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80786"/>
                  </a:lnTo>
                  <a:cubicBezTo>
                    <a:pt x="1338917" y="992583"/>
                    <a:pt x="1334231" y="1003898"/>
                    <a:pt x="1325889" y="1012240"/>
                  </a:cubicBezTo>
                  <a:cubicBezTo>
                    <a:pt x="1317547" y="1020582"/>
                    <a:pt x="1306233" y="1025268"/>
                    <a:pt x="1294435" y="1025268"/>
                  </a:cubicBezTo>
                  <a:lnTo>
                    <a:pt x="44482" y="1025268"/>
                  </a:lnTo>
                  <a:cubicBezTo>
                    <a:pt x="19915" y="1025268"/>
                    <a:pt x="0" y="1005353"/>
                    <a:pt x="0" y="980786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338918" cy="10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37945" y="4066794"/>
            <a:ext cx="5221355" cy="1461172"/>
            <a:chOff x="0" y="0"/>
            <a:chExt cx="1338918" cy="374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8917" cy="374690"/>
            </a:xfrm>
            <a:custGeom>
              <a:avLst/>
              <a:gdLst/>
              <a:ahLst/>
              <a:cxnLst/>
              <a:rect l="l" t="t" r="r" b="b"/>
              <a:pathLst>
                <a:path w="1338917" h="374690">
                  <a:moveTo>
                    <a:pt x="0" y="0"/>
                  </a:moveTo>
                  <a:lnTo>
                    <a:pt x="1338917" y="0"/>
                  </a:lnTo>
                  <a:lnTo>
                    <a:pt x="1338917" y="374690"/>
                  </a:lnTo>
                  <a:lnTo>
                    <a:pt x="0" y="374690"/>
                  </a:lnTo>
                  <a:close/>
                </a:path>
              </a:pathLst>
            </a:custGeom>
            <a:solidFill>
              <a:srgbClr val="8CCFDB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38918" cy="39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Key Advantages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13294827" y="0"/>
            <a:ext cx="2617970" cy="1378370"/>
          </a:xfrm>
          <a:prstGeom prst="line">
            <a:avLst/>
          </a:prstGeom>
          <a:ln w="38100" cap="flat">
            <a:solidFill>
              <a:srgbClr val="323030">
                <a:alpha val="69804"/>
              </a:srgbClr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13285830" y="0"/>
            <a:ext cx="4621995" cy="2879893"/>
          </a:xfrm>
          <a:prstGeom prst="line">
            <a:avLst/>
          </a:prstGeom>
          <a:ln w="38100" cap="flat">
            <a:solidFill>
              <a:srgbClr val="323030">
                <a:alpha val="69804"/>
              </a:srgbClr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16149517" y="1028700"/>
            <a:ext cx="2138483" cy="1224822"/>
          </a:xfrm>
          <a:prstGeom prst="line">
            <a:avLst/>
          </a:prstGeom>
          <a:ln w="38100" cap="flat">
            <a:solidFill>
              <a:srgbClr val="323030">
                <a:alpha val="69804"/>
              </a:srgbClr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3058106" y="2626828"/>
            <a:ext cx="455448" cy="473440"/>
            <a:chOff x="0" y="0"/>
            <a:chExt cx="781911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1911" cy="812800"/>
            </a:xfrm>
            <a:custGeom>
              <a:avLst/>
              <a:gdLst/>
              <a:ahLst/>
              <a:cxnLst/>
              <a:rect l="l" t="t" r="r" b="b"/>
              <a:pathLst>
                <a:path w="781911" h="812800">
                  <a:moveTo>
                    <a:pt x="390955" y="0"/>
                  </a:moveTo>
                  <a:cubicBezTo>
                    <a:pt x="175037" y="0"/>
                    <a:pt x="0" y="181951"/>
                    <a:pt x="0" y="406400"/>
                  </a:cubicBezTo>
                  <a:cubicBezTo>
                    <a:pt x="0" y="630849"/>
                    <a:pt x="175037" y="812800"/>
                    <a:pt x="390955" y="812800"/>
                  </a:cubicBezTo>
                  <a:cubicBezTo>
                    <a:pt x="606874" y="812800"/>
                    <a:pt x="781911" y="630849"/>
                    <a:pt x="781911" y="406400"/>
                  </a:cubicBezTo>
                  <a:cubicBezTo>
                    <a:pt x="781911" y="181951"/>
                    <a:pt x="606874" y="0"/>
                    <a:pt x="390955" y="0"/>
                  </a:cubicBezTo>
                  <a:close/>
                </a:path>
              </a:pathLst>
            </a:custGeom>
            <a:solidFill>
              <a:srgbClr val="8CCFDB"/>
            </a:solidFill>
            <a:ln w="1905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304" y="66675"/>
              <a:ext cx="635303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1028700"/>
            <a:ext cx="9419556" cy="2470187"/>
            <a:chOff x="0" y="0"/>
            <a:chExt cx="12559409" cy="3293583"/>
          </a:xfrm>
        </p:grpSpPr>
        <p:sp>
          <p:nvSpPr>
            <p:cNvPr id="27" name="TextBox 27"/>
            <p:cNvSpPr txBox="1"/>
            <p:nvPr/>
          </p:nvSpPr>
          <p:spPr>
            <a:xfrm>
              <a:off x="0" y="209550"/>
              <a:ext cx="12559409" cy="163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45"/>
                </a:lnSpc>
              </a:pPr>
              <a:r>
                <a:rPr lang="en-US" sz="91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ABSTRACT: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75958"/>
              <a:ext cx="12559409" cy="1317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323030"/>
                  </a:solidFill>
                  <a:latin typeface="Roboto"/>
                  <a:ea typeface="Roboto"/>
                  <a:cs typeface="Roboto"/>
                  <a:sym typeface="Roboto"/>
                </a:rPr>
                <a:t>A First-Principles, Euler-Angle-Free Approach for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323030"/>
                  </a:solidFill>
                  <a:latin typeface="Roboto"/>
                  <a:ea typeface="Roboto"/>
                  <a:cs typeface="Roboto"/>
                  <a:sym typeface="Roboto"/>
                </a:rPr>
                <a:t>Autonomous Multirotor UAVs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28306" y="6136931"/>
            <a:ext cx="4822143" cy="313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 first-principles geometric flight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controller using (SO(3)) and unit-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quaternion representations for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autonomous multirotor UAV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attitude control. Combines position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tracking, force generation, and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non-linear dynamics for commands.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17055" y="6209639"/>
            <a:ext cx="5053890" cy="299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Integrated with ArduPilot SITL,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Gazebo, ROS 2/DDS, and MATLAB.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This forms a distributed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simulation environment for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evaluating autonomous flight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control.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91769" y="6070891"/>
            <a:ext cx="4513708" cy="327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By avoiding Euler-angle</a:t>
            </a:r>
          </a:p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representations, the proposed</a:t>
            </a:r>
          </a:p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approach provides a mathematically</a:t>
            </a:r>
          </a:p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consistent framework for three-</a:t>
            </a:r>
          </a:p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dimensional attitude control</a:t>
            </a:r>
          </a:p>
          <a:p>
            <a:pPr algn="ctr">
              <a:lnSpc>
                <a:spcPts val="3250"/>
              </a:lnSpc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without gimbal-lock singularities.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058106" y="1141650"/>
            <a:ext cx="473440" cy="47344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DD76"/>
            </a:solidFill>
            <a:ln w="1905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912797" y="1965204"/>
            <a:ext cx="473440" cy="47344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BBFF"/>
            </a:solidFill>
            <a:ln w="1905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394961"/>
            <a:ext cx="5221355" cy="3863339"/>
            <a:chOff x="0" y="0"/>
            <a:chExt cx="1338918" cy="990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917" cy="990680"/>
            </a:xfrm>
            <a:custGeom>
              <a:avLst/>
              <a:gdLst/>
              <a:ahLst/>
              <a:cxnLst/>
              <a:rect l="l" t="t" r="r" b="b"/>
              <a:pathLst>
                <a:path w="1338917" h="990680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46198"/>
                  </a:lnTo>
                  <a:cubicBezTo>
                    <a:pt x="1338917" y="970765"/>
                    <a:pt x="1319002" y="990680"/>
                    <a:pt x="1294435" y="990680"/>
                  </a:cubicBezTo>
                  <a:lnTo>
                    <a:pt x="44482" y="990680"/>
                  </a:lnTo>
                  <a:cubicBezTo>
                    <a:pt x="19915" y="990680"/>
                    <a:pt x="0" y="970765"/>
                    <a:pt x="0" y="946198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338918" cy="1000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33323" y="5394961"/>
            <a:ext cx="5221355" cy="3863339"/>
            <a:chOff x="0" y="0"/>
            <a:chExt cx="1338918" cy="9906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8917" cy="990680"/>
            </a:xfrm>
            <a:custGeom>
              <a:avLst/>
              <a:gdLst/>
              <a:ahLst/>
              <a:cxnLst/>
              <a:rect l="l" t="t" r="r" b="b"/>
              <a:pathLst>
                <a:path w="1338917" h="990680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46198"/>
                  </a:lnTo>
                  <a:cubicBezTo>
                    <a:pt x="1338917" y="970765"/>
                    <a:pt x="1319002" y="990680"/>
                    <a:pt x="1294435" y="990680"/>
                  </a:cubicBezTo>
                  <a:lnTo>
                    <a:pt x="44482" y="990680"/>
                  </a:lnTo>
                  <a:cubicBezTo>
                    <a:pt x="19915" y="990680"/>
                    <a:pt x="0" y="970765"/>
                    <a:pt x="0" y="946198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38918" cy="1000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35805" y="4547778"/>
            <a:ext cx="5221355" cy="1191444"/>
            <a:chOff x="0" y="0"/>
            <a:chExt cx="1338918" cy="305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8917" cy="305523"/>
            </a:xfrm>
            <a:custGeom>
              <a:avLst/>
              <a:gdLst/>
              <a:ahLst/>
              <a:cxnLst/>
              <a:rect l="l" t="t" r="r" b="b"/>
              <a:pathLst>
                <a:path w="1338917" h="305523">
                  <a:moveTo>
                    <a:pt x="0" y="0"/>
                  </a:moveTo>
                  <a:lnTo>
                    <a:pt x="1338917" y="0"/>
                  </a:lnTo>
                  <a:lnTo>
                    <a:pt x="1338917" y="305523"/>
                  </a:lnTo>
                  <a:lnTo>
                    <a:pt x="0" y="305523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338918" cy="324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Unit Quaternions (q)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547778"/>
            <a:ext cx="5221355" cy="1191444"/>
            <a:chOff x="0" y="0"/>
            <a:chExt cx="1338918" cy="3055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8917" cy="305523"/>
            </a:xfrm>
            <a:custGeom>
              <a:avLst/>
              <a:gdLst/>
              <a:ahLst/>
              <a:cxnLst/>
              <a:rect l="l" t="t" r="r" b="b"/>
              <a:pathLst>
                <a:path w="1338917" h="305523">
                  <a:moveTo>
                    <a:pt x="0" y="0"/>
                  </a:moveTo>
                  <a:lnTo>
                    <a:pt x="1338917" y="0"/>
                  </a:lnTo>
                  <a:lnTo>
                    <a:pt x="1338917" y="305523"/>
                  </a:lnTo>
                  <a:lnTo>
                    <a:pt x="0" y="305523"/>
                  </a:lnTo>
                  <a:close/>
                </a:path>
              </a:pathLst>
            </a:custGeom>
            <a:solidFill>
              <a:srgbClr val="CDBBFF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338918" cy="324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Geometric Controller (SO(3))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37945" y="5394961"/>
            <a:ext cx="5221355" cy="3863339"/>
            <a:chOff x="0" y="0"/>
            <a:chExt cx="1338918" cy="990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8917" cy="990680"/>
            </a:xfrm>
            <a:custGeom>
              <a:avLst/>
              <a:gdLst/>
              <a:ahLst/>
              <a:cxnLst/>
              <a:rect l="l" t="t" r="r" b="b"/>
              <a:pathLst>
                <a:path w="1338917" h="990680">
                  <a:moveTo>
                    <a:pt x="44482" y="0"/>
                  </a:moveTo>
                  <a:lnTo>
                    <a:pt x="1294435" y="0"/>
                  </a:lnTo>
                  <a:cubicBezTo>
                    <a:pt x="1306233" y="0"/>
                    <a:pt x="1317547" y="4687"/>
                    <a:pt x="1325889" y="13029"/>
                  </a:cubicBezTo>
                  <a:cubicBezTo>
                    <a:pt x="1334231" y="21371"/>
                    <a:pt x="1338917" y="32685"/>
                    <a:pt x="1338917" y="44482"/>
                  </a:cubicBezTo>
                  <a:lnTo>
                    <a:pt x="1338917" y="946198"/>
                  </a:lnTo>
                  <a:cubicBezTo>
                    <a:pt x="1338917" y="970765"/>
                    <a:pt x="1319002" y="990680"/>
                    <a:pt x="1294435" y="990680"/>
                  </a:cubicBezTo>
                  <a:lnTo>
                    <a:pt x="44482" y="990680"/>
                  </a:lnTo>
                  <a:cubicBezTo>
                    <a:pt x="19915" y="990680"/>
                    <a:pt x="0" y="970765"/>
                    <a:pt x="0" y="946198"/>
                  </a:cubicBezTo>
                  <a:lnTo>
                    <a:pt x="0" y="44482"/>
                  </a:lnTo>
                  <a:cubicBezTo>
                    <a:pt x="0" y="19915"/>
                    <a:pt x="19915" y="0"/>
                    <a:pt x="4448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338918" cy="1000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42909" y="4547778"/>
            <a:ext cx="5221355" cy="1191444"/>
            <a:chOff x="0" y="0"/>
            <a:chExt cx="1338918" cy="305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8917" cy="305523"/>
            </a:xfrm>
            <a:custGeom>
              <a:avLst/>
              <a:gdLst/>
              <a:ahLst/>
              <a:cxnLst/>
              <a:rect l="l" t="t" r="r" b="b"/>
              <a:pathLst>
                <a:path w="1338917" h="305523">
                  <a:moveTo>
                    <a:pt x="0" y="0"/>
                  </a:moveTo>
                  <a:lnTo>
                    <a:pt x="1338917" y="0"/>
                  </a:lnTo>
                  <a:lnTo>
                    <a:pt x="1338917" y="305523"/>
                  </a:lnTo>
                  <a:lnTo>
                    <a:pt x="0" y="305523"/>
                  </a:lnTo>
                  <a:close/>
                </a:path>
              </a:pathLst>
            </a:custGeom>
            <a:solidFill>
              <a:srgbClr val="8CCFDB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38918" cy="324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Integration Environment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345591" y="134700"/>
            <a:ext cx="7942409" cy="4444336"/>
          </a:xfrm>
          <a:custGeom>
            <a:avLst/>
            <a:gdLst/>
            <a:ahLst/>
            <a:cxnLst/>
            <a:rect l="l" t="t" r="r" b="b"/>
            <a:pathLst>
              <a:path w="7942409" h="4444336">
                <a:moveTo>
                  <a:pt x="0" y="0"/>
                </a:moveTo>
                <a:lnTo>
                  <a:pt x="7942409" y="0"/>
                </a:lnTo>
                <a:lnTo>
                  <a:pt x="7942409" y="4444337"/>
                </a:lnTo>
                <a:lnTo>
                  <a:pt x="0" y="444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028700" y="1028700"/>
            <a:ext cx="10071191" cy="3281448"/>
            <a:chOff x="0" y="0"/>
            <a:chExt cx="13428255" cy="437526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209550"/>
              <a:ext cx="13428255" cy="1780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310"/>
                </a:lnSpc>
              </a:pPr>
              <a:r>
                <a:rPr lang="en-US" sz="9800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INTRODUCTION: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145084"/>
              <a:ext cx="13428255" cy="2230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10"/>
                </a:lnSpc>
              </a:pPr>
              <a:r>
                <a:rPr lang="en-US" sz="2546">
                  <a:solidFill>
                    <a:srgbClr val="323030"/>
                  </a:solidFill>
                  <a:latin typeface="Roboto"/>
                  <a:ea typeface="Roboto"/>
                  <a:cs typeface="Roboto"/>
                  <a:sym typeface="Roboto"/>
                </a:rPr>
                <a:t>Nonlinear, underactuated multirotor UAVs require advanced</a:t>
              </a:r>
            </a:p>
            <a:p>
              <a:pPr algn="l">
                <a:lnSpc>
                  <a:spcPts val="3310"/>
                </a:lnSpc>
              </a:pPr>
              <a:r>
                <a:rPr lang="en-US" sz="2546">
                  <a:solidFill>
                    <a:srgbClr val="323030"/>
                  </a:solidFill>
                  <a:latin typeface="Roboto"/>
                  <a:ea typeface="Roboto"/>
                  <a:cs typeface="Roboto"/>
                  <a:sym typeface="Roboto"/>
                </a:rPr>
                <a:t>geometric control using SO(3) and quaternions to overcome Euler</a:t>
              </a:r>
            </a:p>
            <a:p>
              <a:pPr algn="l">
                <a:lnSpc>
                  <a:spcPts val="3310"/>
                </a:lnSpc>
              </a:pPr>
              <a:r>
                <a:rPr lang="en-US" sz="2546">
                  <a:solidFill>
                    <a:srgbClr val="323030"/>
                  </a:solidFill>
                  <a:latin typeface="Roboto"/>
                  <a:ea typeface="Roboto"/>
                  <a:cs typeface="Roboto"/>
                  <a:sym typeface="Roboto"/>
                </a:rPr>
                <a:t>angle singularities and gimbal lock during autonomous flight.</a:t>
              </a:r>
            </a:p>
            <a:p>
              <a:pPr algn="l">
                <a:lnSpc>
                  <a:spcPts val="3310"/>
                </a:lnSpc>
              </a:pPr>
              <a:endParaRPr lang="en-US" sz="254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02140" y="6118722"/>
            <a:ext cx="4274474" cy="256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Develops a first-principles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geometric control framework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for accurate position and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attitude tracking, avoiding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Euler angles and singularities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06763" y="6333035"/>
            <a:ext cx="4274474" cy="213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Utilizes unit quaternion state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representations for non-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singular attitude control,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enabling complex and</a:t>
            </a:r>
          </a:p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aggressive maneuvers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11386" y="5904410"/>
            <a:ext cx="4274474" cy="302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dirty="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Integrated with </a:t>
            </a:r>
            <a:r>
              <a:rPr lang="en-US" sz="2600" dirty="0" err="1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ArduPilot</a:t>
            </a:r>
            <a:endParaRPr lang="en-US" sz="2600" dirty="0">
              <a:solidFill>
                <a:srgbClr val="32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380"/>
              </a:lnSpc>
            </a:pPr>
            <a:r>
              <a:rPr lang="en-US" sz="2600" dirty="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SITL, Gazebo, ROS 2/DDS,</a:t>
            </a:r>
          </a:p>
          <a:p>
            <a:pPr algn="ctr">
              <a:lnSpc>
                <a:spcPts val="3380"/>
              </a:lnSpc>
            </a:pPr>
            <a:r>
              <a:rPr lang="en-US" sz="2600" dirty="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and MATLAB for a realistic</a:t>
            </a:r>
          </a:p>
          <a:p>
            <a:pPr algn="ctr">
              <a:lnSpc>
                <a:spcPts val="3380"/>
              </a:lnSpc>
            </a:pPr>
            <a:r>
              <a:rPr lang="en-US" sz="2600" dirty="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simulation and</a:t>
            </a:r>
          </a:p>
          <a:p>
            <a:pPr algn="ctr">
              <a:lnSpc>
                <a:spcPts val="3380"/>
              </a:lnSpc>
            </a:pPr>
            <a:r>
              <a:rPr lang="en-US" sz="2600" dirty="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experimentation testbed. Using MAVLINK for low level messages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150" y="536365"/>
            <a:ext cx="5705835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6275" y="1606340"/>
            <a:ext cx="5920710" cy="818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Position Control – Calculates position and velocity errors to generate the required force.</a:t>
            </a:r>
          </a:p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Desired Attitude Generation – Converts the desired force and yaw into a target rotation Rd​∈SO(3).</a:t>
            </a:r>
          </a:p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Geometric Attitude Control – Computes SO(3) attitude and angular-rate errors without using Euler angles.</a:t>
            </a:r>
          </a:p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Nonlinear Control – Generates collective thrust and body moments with gyroscopic compensation.</a:t>
            </a:r>
          </a:p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Control Allocation – Converts the control commands into appropriate actuator/motor commands.</a:t>
            </a:r>
          </a:p>
          <a:p>
            <a:pPr marL="539756" lvl="1" indent="-269878" algn="l">
              <a:lnSpc>
                <a:spcPts val="3250"/>
              </a:lnSpc>
              <a:buAutoNum type="arabicPeriod"/>
            </a:pPr>
            <a:r>
              <a:rPr lang="en-US" sz="25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Closed-Loop Feedback – The resulting motion is simulated in Gazebo, while ArduPilot continuously estimates the new state and feeds it back to the controller.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81802" y="34375"/>
            <a:ext cx="10609018" cy="10157375"/>
            <a:chOff x="0" y="0"/>
            <a:chExt cx="2720482" cy="26046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20482" cy="2604666"/>
            </a:xfrm>
            <a:custGeom>
              <a:avLst/>
              <a:gdLst/>
              <a:ahLst/>
              <a:cxnLst/>
              <a:rect l="l" t="t" r="r" b="b"/>
              <a:pathLst>
                <a:path w="2720482" h="2604666">
                  <a:moveTo>
                    <a:pt x="21892" y="0"/>
                  </a:moveTo>
                  <a:lnTo>
                    <a:pt x="2698589" y="0"/>
                  </a:lnTo>
                  <a:cubicBezTo>
                    <a:pt x="2704396" y="0"/>
                    <a:pt x="2709964" y="2307"/>
                    <a:pt x="2714070" y="6412"/>
                  </a:cubicBezTo>
                  <a:cubicBezTo>
                    <a:pt x="2718175" y="10518"/>
                    <a:pt x="2720482" y="16086"/>
                    <a:pt x="2720482" y="21892"/>
                  </a:cubicBezTo>
                  <a:lnTo>
                    <a:pt x="2720482" y="2582774"/>
                  </a:lnTo>
                  <a:cubicBezTo>
                    <a:pt x="2720482" y="2588580"/>
                    <a:pt x="2718175" y="2594149"/>
                    <a:pt x="2714070" y="2598254"/>
                  </a:cubicBezTo>
                  <a:cubicBezTo>
                    <a:pt x="2709964" y="2602360"/>
                    <a:pt x="2704396" y="2604666"/>
                    <a:pt x="2698589" y="2604666"/>
                  </a:cubicBezTo>
                  <a:lnTo>
                    <a:pt x="21892" y="2604666"/>
                  </a:lnTo>
                  <a:cubicBezTo>
                    <a:pt x="16086" y="2604666"/>
                    <a:pt x="10518" y="2602360"/>
                    <a:pt x="6412" y="2598254"/>
                  </a:cubicBezTo>
                  <a:cubicBezTo>
                    <a:pt x="2307" y="2594149"/>
                    <a:pt x="0" y="2588580"/>
                    <a:pt x="0" y="2582774"/>
                  </a:cubicBezTo>
                  <a:lnTo>
                    <a:pt x="0" y="21892"/>
                  </a:lnTo>
                  <a:cubicBezTo>
                    <a:pt x="0" y="16086"/>
                    <a:pt x="2307" y="10518"/>
                    <a:pt x="6412" y="6412"/>
                  </a:cubicBezTo>
                  <a:cubicBezTo>
                    <a:pt x="10518" y="2307"/>
                    <a:pt x="16086" y="0"/>
                    <a:pt x="2189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720482" cy="2614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36462" y="135298"/>
            <a:ext cx="9656910" cy="10056452"/>
            <a:chOff x="0" y="0"/>
            <a:chExt cx="12875879" cy="13408603"/>
          </a:xfrm>
        </p:grpSpPr>
        <p:sp>
          <p:nvSpPr>
            <p:cNvPr id="8" name="Freeform 8"/>
            <p:cNvSpPr/>
            <p:nvPr/>
          </p:nvSpPr>
          <p:spPr>
            <a:xfrm>
              <a:off x="4743350" y="11912082"/>
              <a:ext cx="2662081" cy="1496521"/>
            </a:xfrm>
            <a:custGeom>
              <a:avLst/>
              <a:gdLst/>
              <a:ahLst/>
              <a:cxnLst/>
              <a:rect l="l" t="t" r="r" b="b"/>
              <a:pathLst>
                <a:path w="2662081" h="1496521">
                  <a:moveTo>
                    <a:pt x="0" y="0"/>
                  </a:moveTo>
                  <a:lnTo>
                    <a:pt x="2662081" y="0"/>
                  </a:lnTo>
                  <a:lnTo>
                    <a:pt x="2662081" y="1496521"/>
                  </a:lnTo>
                  <a:lnTo>
                    <a:pt x="0" y="1496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917713" y="1396543"/>
              <a:ext cx="7007625" cy="1189159"/>
              <a:chOff x="0" y="0"/>
              <a:chExt cx="11246465" cy="19084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246465" cy="1908469"/>
              </a:xfrm>
              <a:custGeom>
                <a:avLst/>
                <a:gdLst/>
                <a:ahLst/>
                <a:cxnLst/>
                <a:rect l="l" t="t" r="r" b="b"/>
                <a:pathLst>
                  <a:path w="11246465" h="1908469">
                    <a:moveTo>
                      <a:pt x="2880" y="0"/>
                    </a:moveTo>
                    <a:lnTo>
                      <a:pt x="11243584" y="0"/>
                    </a:lnTo>
                    <a:cubicBezTo>
                      <a:pt x="11245176" y="0"/>
                      <a:pt x="11246465" y="1289"/>
                      <a:pt x="11246465" y="2880"/>
                    </a:cubicBezTo>
                    <a:lnTo>
                      <a:pt x="11246465" y="1905589"/>
                    </a:lnTo>
                    <a:cubicBezTo>
                      <a:pt x="11246465" y="1907179"/>
                      <a:pt x="11245176" y="1908469"/>
                      <a:pt x="11243584" y="1908469"/>
                    </a:cubicBezTo>
                    <a:lnTo>
                      <a:pt x="2880" y="1908469"/>
                    </a:lnTo>
                    <a:cubicBezTo>
                      <a:pt x="1289" y="1908469"/>
                      <a:pt x="0" y="1907179"/>
                      <a:pt x="0" y="1905589"/>
                    </a:cubicBezTo>
                    <a:lnTo>
                      <a:pt x="0" y="2880"/>
                    </a:lnTo>
                    <a:cubicBezTo>
                      <a:pt x="0" y="1289"/>
                      <a:pt x="1289" y="0"/>
                      <a:pt x="288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461F4">
                      <a:alpha val="100000"/>
                    </a:srgbClr>
                  </a:gs>
                  <a:gs pos="100000">
                    <a:srgbClr val="81D8E5">
                      <a:alpha val="100000"/>
                    </a:srgbClr>
                  </a:gs>
                </a:gsLst>
                <a:lin ang="0"/>
              </a:gra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9525"/>
                <a:ext cx="11246465" cy="1917994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r">
                  <a:lnSpc>
                    <a:spcPts val="1070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3055057" y="2058731"/>
              <a:ext cx="6615469" cy="0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05899" y="5832"/>
              <a:ext cx="1233090" cy="693613"/>
            </a:xfrm>
            <a:custGeom>
              <a:avLst/>
              <a:gdLst/>
              <a:ahLst/>
              <a:cxnLst/>
              <a:rect l="l" t="t" r="r" b="b"/>
              <a:pathLst>
                <a:path w="1233090" h="693613">
                  <a:moveTo>
                    <a:pt x="0" y="0"/>
                  </a:moveTo>
                  <a:lnTo>
                    <a:pt x="1233090" y="0"/>
                  </a:lnTo>
                  <a:lnTo>
                    <a:pt x="1233090" y="693613"/>
                  </a:lnTo>
                  <a:lnTo>
                    <a:pt x="0" y="69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4992472" y="5832"/>
              <a:ext cx="1233090" cy="693613"/>
            </a:xfrm>
            <a:custGeom>
              <a:avLst/>
              <a:gdLst/>
              <a:ahLst/>
              <a:cxnLst/>
              <a:rect l="l" t="t" r="r" b="b"/>
              <a:pathLst>
                <a:path w="1233090" h="693613">
                  <a:moveTo>
                    <a:pt x="0" y="0"/>
                  </a:moveTo>
                  <a:lnTo>
                    <a:pt x="1233090" y="0"/>
                  </a:lnTo>
                  <a:lnTo>
                    <a:pt x="1233090" y="693613"/>
                  </a:lnTo>
                  <a:lnTo>
                    <a:pt x="0" y="69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Freeform 15"/>
            <p:cNvSpPr/>
            <p:nvPr/>
          </p:nvSpPr>
          <p:spPr>
            <a:xfrm>
              <a:off x="8265726" y="5832"/>
              <a:ext cx="1233090" cy="693613"/>
            </a:xfrm>
            <a:custGeom>
              <a:avLst/>
              <a:gdLst/>
              <a:ahLst/>
              <a:cxnLst/>
              <a:rect l="l" t="t" r="r" b="b"/>
              <a:pathLst>
                <a:path w="1233090" h="693613">
                  <a:moveTo>
                    <a:pt x="0" y="0"/>
                  </a:moveTo>
                  <a:lnTo>
                    <a:pt x="1233090" y="0"/>
                  </a:lnTo>
                  <a:lnTo>
                    <a:pt x="1233090" y="693613"/>
                  </a:lnTo>
                  <a:lnTo>
                    <a:pt x="0" y="69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Freeform 16"/>
            <p:cNvSpPr/>
            <p:nvPr/>
          </p:nvSpPr>
          <p:spPr>
            <a:xfrm>
              <a:off x="6654802" y="0"/>
              <a:ext cx="1233090" cy="693613"/>
            </a:xfrm>
            <a:custGeom>
              <a:avLst/>
              <a:gdLst/>
              <a:ahLst/>
              <a:cxnLst/>
              <a:rect l="l" t="t" r="r" b="b"/>
              <a:pathLst>
                <a:path w="1233090" h="693613">
                  <a:moveTo>
                    <a:pt x="0" y="0"/>
                  </a:moveTo>
                  <a:lnTo>
                    <a:pt x="1233090" y="0"/>
                  </a:lnTo>
                  <a:lnTo>
                    <a:pt x="1233090" y="693613"/>
                  </a:lnTo>
                  <a:lnTo>
                    <a:pt x="0" y="69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917713" y="7949929"/>
              <a:ext cx="7007625" cy="1772107"/>
              <a:chOff x="0" y="0"/>
              <a:chExt cx="11246465" cy="284403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246465" cy="2844036"/>
              </a:xfrm>
              <a:custGeom>
                <a:avLst/>
                <a:gdLst/>
                <a:ahLst/>
                <a:cxnLst/>
                <a:rect l="l" t="t" r="r" b="b"/>
                <a:pathLst>
                  <a:path w="11246465" h="2844036">
                    <a:moveTo>
                      <a:pt x="2880" y="0"/>
                    </a:moveTo>
                    <a:lnTo>
                      <a:pt x="11243584" y="0"/>
                    </a:lnTo>
                    <a:cubicBezTo>
                      <a:pt x="11245176" y="0"/>
                      <a:pt x="11246465" y="1289"/>
                      <a:pt x="11246465" y="2880"/>
                    </a:cubicBezTo>
                    <a:lnTo>
                      <a:pt x="11246465" y="2841155"/>
                    </a:lnTo>
                    <a:cubicBezTo>
                      <a:pt x="11246465" y="2842746"/>
                      <a:pt x="11245176" y="2844036"/>
                      <a:pt x="11243584" y="2844036"/>
                    </a:cubicBezTo>
                    <a:lnTo>
                      <a:pt x="2880" y="2844036"/>
                    </a:lnTo>
                    <a:cubicBezTo>
                      <a:pt x="1289" y="2844036"/>
                      <a:pt x="0" y="2842746"/>
                      <a:pt x="0" y="2841155"/>
                    </a:cubicBezTo>
                    <a:lnTo>
                      <a:pt x="0" y="2880"/>
                    </a:lnTo>
                    <a:cubicBezTo>
                      <a:pt x="0" y="1289"/>
                      <a:pt x="1289" y="0"/>
                      <a:pt x="288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869">
                      <a:alpha val="100000"/>
                    </a:srgbClr>
                  </a:gs>
                  <a:gs pos="100000">
                    <a:srgbClr val="FFD2BD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1246465" cy="2853561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r">
                  <a:lnSpc>
                    <a:spcPts val="107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4010926" y="7977922"/>
              <a:ext cx="682842" cy="885634"/>
            </a:xfrm>
            <a:custGeom>
              <a:avLst/>
              <a:gdLst/>
              <a:ahLst/>
              <a:cxnLst/>
              <a:rect l="l" t="t" r="r" b="b"/>
              <a:pathLst>
                <a:path w="682842" h="885634">
                  <a:moveTo>
                    <a:pt x="0" y="0"/>
                  </a:moveTo>
                  <a:lnTo>
                    <a:pt x="682842" y="0"/>
                  </a:lnTo>
                  <a:lnTo>
                    <a:pt x="682842" y="885634"/>
                  </a:lnTo>
                  <a:lnTo>
                    <a:pt x="0" y="88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1822" t="-43027" r="-52846" b="-43107"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2917713" y="10699314"/>
              <a:ext cx="7007625" cy="534860"/>
              <a:chOff x="0" y="0"/>
              <a:chExt cx="11246465" cy="85839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246465" cy="858391"/>
              </a:xfrm>
              <a:custGeom>
                <a:avLst/>
                <a:gdLst/>
                <a:ahLst/>
                <a:cxnLst/>
                <a:rect l="l" t="t" r="r" b="b"/>
                <a:pathLst>
                  <a:path w="11246465" h="858391">
                    <a:moveTo>
                      <a:pt x="2880" y="0"/>
                    </a:moveTo>
                    <a:lnTo>
                      <a:pt x="11243584" y="0"/>
                    </a:lnTo>
                    <a:cubicBezTo>
                      <a:pt x="11245176" y="0"/>
                      <a:pt x="11246465" y="1289"/>
                      <a:pt x="11246465" y="2880"/>
                    </a:cubicBezTo>
                    <a:lnTo>
                      <a:pt x="11246465" y="855511"/>
                    </a:lnTo>
                    <a:cubicBezTo>
                      <a:pt x="11246465" y="857102"/>
                      <a:pt x="11245176" y="858391"/>
                      <a:pt x="11243584" y="858391"/>
                    </a:cubicBezTo>
                    <a:lnTo>
                      <a:pt x="2880" y="858391"/>
                    </a:lnTo>
                    <a:cubicBezTo>
                      <a:pt x="1289" y="858391"/>
                      <a:pt x="0" y="857102"/>
                      <a:pt x="0" y="855511"/>
                    </a:cubicBezTo>
                    <a:lnTo>
                      <a:pt x="0" y="2880"/>
                    </a:lnTo>
                    <a:cubicBezTo>
                      <a:pt x="0" y="1289"/>
                      <a:pt x="1289" y="0"/>
                      <a:pt x="288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11246465" cy="867916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r">
                  <a:lnSpc>
                    <a:spcPts val="107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3538467" y="10870769"/>
              <a:ext cx="1390183" cy="277973"/>
            </a:xfrm>
            <a:custGeom>
              <a:avLst/>
              <a:gdLst/>
              <a:ahLst/>
              <a:cxnLst/>
              <a:rect l="l" t="t" r="r" b="b"/>
              <a:pathLst>
                <a:path w="1390183" h="277973">
                  <a:moveTo>
                    <a:pt x="0" y="0"/>
                  </a:moveTo>
                  <a:lnTo>
                    <a:pt x="1390182" y="0"/>
                  </a:lnTo>
                  <a:lnTo>
                    <a:pt x="1390182" y="277973"/>
                  </a:lnTo>
                  <a:lnTo>
                    <a:pt x="0" y="277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81" t="-240396" r="-8012" b="-238207"/>
              </a:stretch>
            </a:blipFill>
          </p:spPr>
        </p:sp>
        <p:sp>
          <p:nvSpPr>
            <p:cNvPr id="25" name="AutoShape 25"/>
            <p:cNvSpPr/>
            <p:nvPr/>
          </p:nvSpPr>
          <p:spPr>
            <a:xfrm>
              <a:off x="3055057" y="2349766"/>
              <a:ext cx="6615469" cy="0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3202464" y="9406024"/>
              <a:ext cx="6615469" cy="0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3165681" y="9048033"/>
              <a:ext cx="6615469" cy="0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917713" y="3671962"/>
              <a:ext cx="7007625" cy="3345274"/>
              <a:chOff x="0" y="0"/>
              <a:chExt cx="11246465" cy="5368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246465" cy="5368795"/>
              </a:xfrm>
              <a:custGeom>
                <a:avLst/>
                <a:gdLst/>
                <a:ahLst/>
                <a:cxnLst/>
                <a:rect l="l" t="t" r="r" b="b"/>
                <a:pathLst>
                  <a:path w="11246465" h="5368795">
                    <a:moveTo>
                      <a:pt x="2880" y="0"/>
                    </a:moveTo>
                    <a:lnTo>
                      <a:pt x="11243584" y="0"/>
                    </a:lnTo>
                    <a:cubicBezTo>
                      <a:pt x="11245176" y="0"/>
                      <a:pt x="11246465" y="1289"/>
                      <a:pt x="11246465" y="2880"/>
                    </a:cubicBezTo>
                    <a:lnTo>
                      <a:pt x="11246465" y="5365915"/>
                    </a:lnTo>
                    <a:cubicBezTo>
                      <a:pt x="11246465" y="5367506"/>
                      <a:pt x="11245176" y="5368795"/>
                      <a:pt x="11243584" y="5368795"/>
                    </a:cubicBezTo>
                    <a:lnTo>
                      <a:pt x="2880" y="5368795"/>
                    </a:lnTo>
                    <a:cubicBezTo>
                      <a:pt x="1289" y="5368795"/>
                      <a:pt x="0" y="5367506"/>
                      <a:pt x="0" y="5365915"/>
                    </a:cubicBezTo>
                    <a:lnTo>
                      <a:pt x="0" y="2880"/>
                    </a:lnTo>
                    <a:cubicBezTo>
                      <a:pt x="0" y="1289"/>
                      <a:pt x="1289" y="0"/>
                      <a:pt x="288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F0F3">
                      <a:alpha val="100000"/>
                    </a:srgbClr>
                  </a:gs>
                  <a:gs pos="100000">
                    <a:srgbClr val="A2A5A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9525"/>
                <a:ext cx="11246465" cy="5378320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r">
                  <a:lnSpc>
                    <a:spcPts val="1070"/>
                  </a:lnSpc>
                </a:pPr>
                <a:endParaRPr/>
              </a:p>
            </p:txBody>
          </p:sp>
        </p:grpSp>
        <p:sp>
          <p:nvSpPr>
            <p:cNvPr id="31" name="AutoShape 31"/>
            <p:cNvSpPr/>
            <p:nvPr/>
          </p:nvSpPr>
          <p:spPr>
            <a:xfrm>
              <a:off x="3055057" y="6697436"/>
              <a:ext cx="6615469" cy="0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565261" y="4221776"/>
              <a:ext cx="1311734" cy="1195457"/>
              <a:chOff x="0" y="0"/>
              <a:chExt cx="2141785" cy="1951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141785" cy="1951930"/>
              </a:xfrm>
              <a:custGeom>
                <a:avLst/>
                <a:gdLst/>
                <a:ahLst/>
                <a:cxnLst/>
                <a:rect l="l" t="t" r="r" b="b"/>
                <a:pathLst>
                  <a:path w="2141785" h="1951930">
                    <a:moveTo>
                      <a:pt x="15386" y="0"/>
                    </a:moveTo>
                    <a:lnTo>
                      <a:pt x="2126399" y="0"/>
                    </a:lnTo>
                    <a:cubicBezTo>
                      <a:pt x="2134896" y="0"/>
                      <a:pt x="2141785" y="6889"/>
                      <a:pt x="2141785" y="15386"/>
                    </a:cubicBezTo>
                    <a:lnTo>
                      <a:pt x="2141785" y="1936544"/>
                    </a:lnTo>
                    <a:cubicBezTo>
                      <a:pt x="2141785" y="1940624"/>
                      <a:pt x="2140164" y="1944538"/>
                      <a:pt x="2137278" y="1947423"/>
                    </a:cubicBezTo>
                    <a:cubicBezTo>
                      <a:pt x="2134393" y="1950309"/>
                      <a:pt x="2130479" y="1951930"/>
                      <a:pt x="2126399" y="1951930"/>
                    </a:cubicBezTo>
                    <a:lnTo>
                      <a:pt x="15386" y="1951930"/>
                    </a:lnTo>
                    <a:cubicBezTo>
                      <a:pt x="11305" y="1951930"/>
                      <a:pt x="7392" y="1950309"/>
                      <a:pt x="4506" y="1947423"/>
                    </a:cubicBezTo>
                    <a:cubicBezTo>
                      <a:pt x="1621" y="1944538"/>
                      <a:pt x="0" y="1940624"/>
                      <a:pt x="0" y="1936544"/>
                    </a:cubicBezTo>
                    <a:lnTo>
                      <a:pt x="0" y="15386"/>
                    </a:lnTo>
                    <a:cubicBezTo>
                      <a:pt x="0" y="11305"/>
                      <a:pt x="1621" y="7392"/>
                      <a:pt x="4506" y="4506"/>
                    </a:cubicBezTo>
                    <a:cubicBezTo>
                      <a:pt x="7392" y="1621"/>
                      <a:pt x="11305" y="0"/>
                      <a:pt x="1538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2141785" cy="198050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912"/>
                  </a:lnSpc>
                </a:pPr>
                <a:r>
                  <a:rPr lang="en-US" sz="651" b="1">
                    <a:solidFill>
                      <a:srgbClr val="1800A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The Estimator Node (Observation Part)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561847" y="4221776"/>
              <a:ext cx="1311734" cy="1195457"/>
              <a:chOff x="0" y="0"/>
              <a:chExt cx="2141785" cy="195193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141785" cy="1951930"/>
              </a:xfrm>
              <a:custGeom>
                <a:avLst/>
                <a:gdLst/>
                <a:ahLst/>
                <a:cxnLst/>
                <a:rect l="l" t="t" r="r" b="b"/>
                <a:pathLst>
                  <a:path w="2141785" h="1951930">
                    <a:moveTo>
                      <a:pt x="15386" y="0"/>
                    </a:moveTo>
                    <a:lnTo>
                      <a:pt x="2126399" y="0"/>
                    </a:lnTo>
                    <a:cubicBezTo>
                      <a:pt x="2134896" y="0"/>
                      <a:pt x="2141785" y="6889"/>
                      <a:pt x="2141785" y="15386"/>
                    </a:cubicBezTo>
                    <a:lnTo>
                      <a:pt x="2141785" y="1936544"/>
                    </a:lnTo>
                    <a:cubicBezTo>
                      <a:pt x="2141785" y="1940624"/>
                      <a:pt x="2140164" y="1944538"/>
                      <a:pt x="2137278" y="1947423"/>
                    </a:cubicBezTo>
                    <a:cubicBezTo>
                      <a:pt x="2134393" y="1950309"/>
                      <a:pt x="2130479" y="1951930"/>
                      <a:pt x="2126399" y="1951930"/>
                    </a:cubicBezTo>
                    <a:lnTo>
                      <a:pt x="15386" y="1951930"/>
                    </a:lnTo>
                    <a:cubicBezTo>
                      <a:pt x="11305" y="1951930"/>
                      <a:pt x="7392" y="1950309"/>
                      <a:pt x="4506" y="1947423"/>
                    </a:cubicBezTo>
                    <a:cubicBezTo>
                      <a:pt x="1621" y="1944538"/>
                      <a:pt x="0" y="1940624"/>
                      <a:pt x="0" y="1936544"/>
                    </a:cubicBezTo>
                    <a:lnTo>
                      <a:pt x="0" y="15386"/>
                    </a:lnTo>
                    <a:cubicBezTo>
                      <a:pt x="0" y="11305"/>
                      <a:pt x="1621" y="7392"/>
                      <a:pt x="4506" y="4506"/>
                    </a:cubicBezTo>
                    <a:cubicBezTo>
                      <a:pt x="7392" y="1621"/>
                      <a:pt x="11305" y="0"/>
                      <a:pt x="1538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141785" cy="198050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912"/>
                  </a:lnSpc>
                </a:pPr>
                <a:r>
                  <a:rPr lang="en-US" sz="651" b="1">
                    <a:solidFill>
                      <a:srgbClr val="1800A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The Controller Node (Control Part)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710878" y="4221776"/>
              <a:ext cx="1311734" cy="1195457"/>
              <a:chOff x="0" y="0"/>
              <a:chExt cx="2141785" cy="195193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141785" cy="1951930"/>
              </a:xfrm>
              <a:custGeom>
                <a:avLst/>
                <a:gdLst/>
                <a:ahLst/>
                <a:cxnLst/>
                <a:rect l="l" t="t" r="r" b="b"/>
                <a:pathLst>
                  <a:path w="2141785" h="1951930">
                    <a:moveTo>
                      <a:pt x="15386" y="0"/>
                    </a:moveTo>
                    <a:lnTo>
                      <a:pt x="2126399" y="0"/>
                    </a:lnTo>
                    <a:cubicBezTo>
                      <a:pt x="2134896" y="0"/>
                      <a:pt x="2141785" y="6889"/>
                      <a:pt x="2141785" y="15386"/>
                    </a:cubicBezTo>
                    <a:lnTo>
                      <a:pt x="2141785" y="1936544"/>
                    </a:lnTo>
                    <a:cubicBezTo>
                      <a:pt x="2141785" y="1940624"/>
                      <a:pt x="2140164" y="1944538"/>
                      <a:pt x="2137278" y="1947423"/>
                    </a:cubicBezTo>
                    <a:cubicBezTo>
                      <a:pt x="2134393" y="1950309"/>
                      <a:pt x="2130479" y="1951930"/>
                      <a:pt x="2126399" y="1951930"/>
                    </a:cubicBezTo>
                    <a:lnTo>
                      <a:pt x="15386" y="1951930"/>
                    </a:lnTo>
                    <a:cubicBezTo>
                      <a:pt x="11305" y="1951930"/>
                      <a:pt x="7392" y="1950309"/>
                      <a:pt x="4506" y="1947423"/>
                    </a:cubicBezTo>
                    <a:cubicBezTo>
                      <a:pt x="1621" y="1944538"/>
                      <a:pt x="0" y="1940624"/>
                      <a:pt x="0" y="1936544"/>
                    </a:cubicBezTo>
                    <a:lnTo>
                      <a:pt x="0" y="15386"/>
                    </a:lnTo>
                    <a:cubicBezTo>
                      <a:pt x="0" y="11305"/>
                      <a:pt x="1621" y="7392"/>
                      <a:pt x="4506" y="4506"/>
                    </a:cubicBezTo>
                    <a:cubicBezTo>
                      <a:pt x="7392" y="1621"/>
                      <a:pt x="11305" y="0"/>
                      <a:pt x="1538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28575"/>
                <a:ext cx="2141785" cy="198050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912"/>
                  </a:lnSpc>
                </a:pPr>
                <a:r>
                  <a:rPr lang="en-US" sz="651" b="1">
                    <a:solidFill>
                      <a:srgbClr val="1800A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The Actuator Bridge Node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488356" y="5751691"/>
              <a:ext cx="602925" cy="602925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99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Publisher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392305" y="5751691"/>
              <a:ext cx="602925" cy="602925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CAC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endParaRPr/>
              </a:p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subscriber</a:t>
                </a:r>
              </a:p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endParaRPr lang="en-US" sz="5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endParaRPr>
              </a:p>
            </p:txBody>
          </p:sp>
        </p:grpSp>
        <p:sp>
          <p:nvSpPr>
            <p:cNvPr id="47" name="AutoShape 47"/>
            <p:cNvSpPr/>
            <p:nvPr/>
          </p:nvSpPr>
          <p:spPr>
            <a:xfrm flipV="1">
              <a:off x="3789819" y="5417233"/>
              <a:ext cx="431309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" name="AutoShape 48"/>
            <p:cNvSpPr/>
            <p:nvPr/>
          </p:nvSpPr>
          <p:spPr>
            <a:xfrm flipH="1" flipV="1">
              <a:off x="4221128" y="5417233"/>
              <a:ext cx="472640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450665" y="5751691"/>
              <a:ext cx="602925" cy="602925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99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Publisher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347781" y="5751691"/>
              <a:ext cx="602925" cy="602925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CAC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subscriber</a:t>
                </a:r>
              </a:p>
            </p:txBody>
          </p:sp>
        </p:grpSp>
        <p:sp>
          <p:nvSpPr>
            <p:cNvPr id="55" name="AutoShape 55"/>
            <p:cNvSpPr/>
            <p:nvPr/>
          </p:nvSpPr>
          <p:spPr>
            <a:xfrm flipV="1">
              <a:off x="5752128" y="5417233"/>
              <a:ext cx="465586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AutoShape 56"/>
            <p:cNvSpPr/>
            <p:nvPr/>
          </p:nvSpPr>
          <p:spPr>
            <a:xfrm flipH="1" flipV="1">
              <a:off x="6217713" y="5417233"/>
              <a:ext cx="431530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744727" y="5751691"/>
              <a:ext cx="602925" cy="602925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999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Publisher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530441" y="5751691"/>
              <a:ext cx="602925" cy="602925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CAC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0793" tIns="10793" rIns="10793" bIns="10793" rtlCol="0" anchor="ctr"/>
              <a:lstStyle/>
              <a:p>
                <a:pPr algn="ctr">
                  <a:lnSpc>
                    <a:spcPts val="713"/>
                  </a:lnSpc>
                  <a:spcBef>
                    <a:spcPct val="0"/>
                  </a:spcBef>
                </a:pPr>
                <a:r>
                  <a:rPr lang="en-US" sz="50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subscriber</a:t>
                </a:r>
              </a:p>
            </p:txBody>
          </p:sp>
        </p:grpSp>
        <p:sp>
          <p:nvSpPr>
            <p:cNvPr id="63" name="AutoShape 63"/>
            <p:cNvSpPr/>
            <p:nvPr/>
          </p:nvSpPr>
          <p:spPr>
            <a:xfrm flipV="1">
              <a:off x="8046190" y="5417233"/>
              <a:ext cx="320555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" name="AutoShape 64"/>
            <p:cNvSpPr/>
            <p:nvPr/>
          </p:nvSpPr>
          <p:spPr>
            <a:xfrm flipH="1" flipV="1">
              <a:off x="8366744" y="5417233"/>
              <a:ext cx="465159" cy="334458"/>
            </a:xfrm>
            <a:prstGeom prst="line">
              <a:avLst/>
            </a:prstGeom>
            <a:ln w="124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" name="Freeform 65"/>
            <p:cNvSpPr/>
            <p:nvPr/>
          </p:nvSpPr>
          <p:spPr>
            <a:xfrm>
              <a:off x="3368436" y="1396543"/>
              <a:ext cx="1682767" cy="556835"/>
            </a:xfrm>
            <a:custGeom>
              <a:avLst/>
              <a:gdLst/>
              <a:ahLst/>
              <a:cxnLst/>
              <a:rect l="l" t="t" r="r" b="b"/>
              <a:pathLst>
                <a:path w="1682767" h="556835">
                  <a:moveTo>
                    <a:pt x="0" y="0"/>
                  </a:moveTo>
                  <a:lnTo>
                    <a:pt x="1682767" y="0"/>
                  </a:lnTo>
                  <a:lnTo>
                    <a:pt x="1682767" y="556835"/>
                  </a:lnTo>
                  <a:lnTo>
                    <a:pt x="0" y="55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8002" b="-31986"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>
              <a:off x="3538467" y="3671962"/>
              <a:ext cx="1642642" cy="487790"/>
            </a:xfrm>
            <a:custGeom>
              <a:avLst/>
              <a:gdLst/>
              <a:ahLst/>
              <a:cxnLst/>
              <a:rect l="l" t="t" r="r" b="b"/>
              <a:pathLst>
                <a:path w="1642642" h="487790">
                  <a:moveTo>
                    <a:pt x="0" y="0"/>
                  </a:moveTo>
                  <a:lnTo>
                    <a:pt x="1642641" y="0"/>
                  </a:lnTo>
                  <a:lnTo>
                    <a:pt x="1642641" y="487790"/>
                  </a:lnTo>
                  <a:lnTo>
                    <a:pt x="0" y="487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 rot="5400000">
              <a:off x="4177569" y="2995633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0" y="0"/>
                  </a:moveTo>
                  <a:lnTo>
                    <a:pt x="810324" y="0"/>
                  </a:lnTo>
                  <a:lnTo>
                    <a:pt x="810324" y="380852"/>
                  </a:lnTo>
                  <a:lnTo>
                    <a:pt x="0" y="38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 rot="5400000" flipH="1">
              <a:off x="7305716" y="2995633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810324" y="0"/>
                  </a:moveTo>
                  <a:lnTo>
                    <a:pt x="0" y="0"/>
                  </a:lnTo>
                  <a:lnTo>
                    <a:pt x="0" y="380852"/>
                  </a:lnTo>
                  <a:lnTo>
                    <a:pt x="810324" y="380852"/>
                  </a:lnTo>
                  <a:lnTo>
                    <a:pt x="81032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Freeform 69"/>
            <p:cNvSpPr/>
            <p:nvPr/>
          </p:nvSpPr>
          <p:spPr>
            <a:xfrm rot="5400000">
              <a:off x="4102658" y="7240024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0" y="0"/>
                  </a:moveTo>
                  <a:lnTo>
                    <a:pt x="810324" y="0"/>
                  </a:lnTo>
                  <a:lnTo>
                    <a:pt x="810324" y="380852"/>
                  </a:lnTo>
                  <a:lnTo>
                    <a:pt x="0" y="38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0" name="Freeform 70"/>
            <p:cNvSpPr/>
            <p:nvPr/>
          </p:nvSpPr>
          <p:spPr>
            <a:xfrm rot="5400000" flipH="1">
              <a:off x="7230805" y="7240024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810324" y="0"/>
                  </a:moveTo>
                  <a:lnTo>
                    <a:pt x="0" y="0"/>
                  </a:lnTo>
                  <a:lnTo>
                    <a:pt x="0" y="380852"/>
                  </a:lnTo>
                  <a:lnTo>
                    <a:pt x="810324" y="380852"/>
                  </a:lnTo>
                  <a:lnTo>
                    <a:pt x="81032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Freeform 71"/>
            <p:cNvSpPr/>
            <p:nvPr/>
          </p:nvSpPr>
          <p:spPr>
            <a:xfrm rot="5400000">
              <a:off x="4177569" y="10062772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0" y="0"/>
                  </a:moveTo>
                  <a:lnTo>
                    <a:pt x="810324" y="0"/>
                  </a:lnTo>
                  <a:lnTo>
                    <a:pt x="810324" y="380852"/>
                  </a:lnTo>
                  <a:lnTo>
                    <a:pt x="0" y="38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Freeform 72"/>
            <p:cNvSpPr/>
            <p:nvPr/>
          </p:nvSpPr>
          <p:spPr>
            <a:xfrm rot="5400000" flipH="1">
              <a:off x="7305716" y="10062772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810324" y="0"/>
                  </a:moveTo>
                  <a:lnTo>
                    <a:pt x="0" y="0"/>
                  </a:lnTo>
                  <a:lnTo>
                    <a:pt x="0" y="380852"/>
                  </a:lnTo>
                  <a:lnTo>
                    <a:pt x="810324" y="380852"/>
                  </a:lnTo>
                  <a:lnTo>
                    <a:pt x="81032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3" name="Freeform 73"/>
            <p:cNvSpPr/>
            <p:nvPr/>
          </p:nvSpPr>
          <p:spPr>
            <a:xfrm rot="5400000">
              <a:off x="4998965" y="11467137"/>
              <a:ext cx="570533" cy="268151"/>
            </a:xfrm>
            <a:custGeom>
              <a:avLst/>
              <a:gdLst/>
              <a:ahLst/>
              <a:cxnLst/>
              <a:rect l="l" t="t" r="r" b="b"/>
              <a:pathLst>
                <a:path w="570533" h="268151">
                  <a:moveTo>
                    <a:pt x="0" y="0"/>
                  </a:moveTo>
                  <a:lnTo>
                    <a:pt x="570534" y="0"/>
                  </a:lnTo>
                  <a:lnTo>
                    <a:pt x="570534" y="268150"/>
                  </a:lnTo>
                  <a:lnTo>
                    <a:pt x="0" y="26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Freeform 74"/>
            <p:cNvSpPr/>
            <p:nvPr/>
          </p:nvSpPr>
          <p:spPr>
            <a:xfrm rot="5400000" flipH="1">
              <a:off x="6832359" y="11467137"/>
              <a:ext cx="570533" cy="268151"/>
            </a:xfrm>
            <a:custGeom>
              <a:avLst/>
              <a:gdLst/>
              <a:ahLst/>
              <a:cxnLst/>
              <a:rect l="l" t="t" r="r" b="b"/>
              <a:pathLst>
                <a:path w="570533" h="268151">
                  <a:moveTo>
                    <a:pt x="570534" y="0"/>
                  </a:moveTo>
                  <a:lnTo>
                    <a:pt x="0" y="0"/>
                  </a:lnTo>
                  <a:lnTo>
                    <a:pt x="0" y="268150"/>
                  </a:lnTo>
                  <a:lnTo>
                    <a:pt x="570534" y="268150"/>
                  </a:lnTo>
                  <a:lnTo>
                    <a:pt x="57053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5" name="Freeform 75"/>
            <p:cNvSpPr/>
            <p:nvPr/>
          </p:nvSpPr>
          <p:spPr>
            <a:xfrm rot="5400000">
              <a:off x="5083162" y="920651"/>
              <a:ext cx="556032" cy="261335"/>
            </a:xfrm>
            <a:custGeom>
              <a:avLst/>
              <a:gdLst/>
              <a:ahLst/>
              <a:cxnLst/>
              <a:rect l="l" t="t" r="r" b="b"/>
              <a:pathLst>
                <a:path w="556032" h="261335">
                  <a:moveTo>
                    <a:pt x="0" y="0"/>
                  </a:moveTo>
                  <a:lnTo>
                    <a:pt x="556032" y="0"/>
                  </a:lnTo>
                  <a:lnTo>
                    <a:pt x="556032" y="261335"/>
                  </a:lnTo>
                  <a:lnTo>
                    <a:pt x="0" y="26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6" name="Freeform 76"/>
            <p:cNvSpPr/>
            <p:nvPr/>
          </p:nvSpPr>
          <p:spPr>
            <a:xfrm rot="5400000" flipH="1">
              <a:off x="6610591" y="920651"/>
              <a:ext cx="556032" cy="261335"/>
            </a:xfrm>
            <a:custGeom>
              <a:avLst/>
              <a:gdLst/>
              <a:ahLst/>
              <a:cxnLst/>
              <a:rect l="l" t="t" r="r" b="b"/>
              <a:pathLst>
                <a:path w="556032" h="261335">
                  <a:moveTo>
                    <a:pt x="556032" y="0"/>
                  </a:moveTo>
                  <a:lnTo>
                    <a:pt x="0" y="0"/>
                  </a:lnTo>
                  <a:lnTo>
                    <a:pt x="0" y="261335"/>
                  </a:lnTo>
                  <a:lnTo>
                    <a:pt x="556032" y="261335"/>
                  </a:lnTo>
                  <a:lnTo>
                    <a:pt x="556032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7" name="Freeform 77"/>
            <p:cNvSpPr/>
            <p:nvPr/>
          </p:nvSpPr>
          <p:spPr>
            <a:xfrm rot="-10800000">
              <a:off x="2107389" y="8701580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0" y="0"/>
                  </a:moveTo>
                  <a:lnTo>
                    <a:pt x="810324" y="0"/>
                  </a:lnTo>
                  <a:lnTo>
                    <a:pt x="810324" y="380852"/>
                  </a:lnTo>
                  <a:lnTo>
                    <a:pt x="0" y="38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8" name="Freeform 78"/>
            <p:cNvSpPr/>
            <p:nvPr/>
          </p:nvSpPr>
          <p:spPr>
            <a:xfrm rot="-10800000" flipH="1">
              <a:off x="2107389" y="9363223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810324" y="0"/>
                  </a:moveTo>
                  <a:lnTo>
                    <a:pt x="0" y="0"/>
                  </a:lnTo>
                  <a:lnTo>
                    <a:pt x="0" y="380853"/>
                  </a:lnTo>
                  <a:lnTo>
                    <a:pt x="810324" y="380853"/>
                  </a:lnTo>
                  <a:lnTo>
                    <a:pt x="81032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9" name="Freeform 79"/>
            <p:cNvSpPr/>
            <p:nvPr/>
          </p:nvSpPr>
          <p:spPr>
            <a:xfrm>
              <a:off x="0" y="7819656"/>
              <a:ext cx="2107389" cy="2370813"/>
            </a:xfrm>
            <a:custGeom>
              <a:avLst/>
              <a:gdLst/>
              <a:ahLst/>
              <a:cxnLst/>
              <a:rect l="l" t="t" r="r" b="b"/>
              <a:pathLst>
                <a:path w="2107389" h="2370813">
                  <a:moveTo>
                    <a:pt x="0" y="0"/>
                  </a:moveTo>
                  <a:lnTo>
                    <a:pt x="2107389" y="0"/>
                  </a:lnTo>
                  <a:lnTo>
                    <a:pt x="2107389" y="2370812"/>
                  </a:lnTo>
                  <a:lnTo>
                    <a:pt x="0" y="2370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00000"/>
              </a:stretch>
            </a:blipFill>
          </p:spPr>
        </p:sp>
        <p:sp>
          <p:nvSpPr>
            <p:cNvPr id="80" name="Freeform 80"/>
            <p:cNvSpPr/>
            <p:nvPr/>
          </p:nvSpPr>
          <p:spPr>
            <a:xfrm>
              <a:off x="10735662" y="7840262"/>
              <a:ext cx="2140218" cy="2398311"/>
            </a:xfrm>
            <a:custGeom>
              <a:avLst/>
              <a:gdLst/>
              <a:ahLst/>
              <a:cxnLst/>
              <a:rect l="l" t="t" r="r" b="b"/>
              <a:pathLst>
                <a:path w="2140218" h="2398311">
                  <a:moveTo>
                    <a:pt x="0" y="0"/>
                  </a:moveTo>
                  <a:lnTo>
                    <a:pt x="2140217" y="0"/>
                  </a:lnTo>
                  <a:lnTo>
                    <a:pt x="2140217" y="2398311"/>
                  </a:lnTo>
                  <a:lnTo>
                    <a:pt x="0" y="239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99216"/>
              </a:stretch>
            </a:blipFill>
          </p:spPr>
        </p:sp>
        <p:sp>
          <p:nvSpPr>
            <p:cNvPr id="81" name="Freeform 81"/>
            <p:cNvSpPr/>
            <p:nvPr/>
          </p:nvSpPr>
          <p:spPr>
            <a:xfrm rot="-10800000">
              <a:off x="9925338" y="8701580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0" y="0"/>
                  </a:moveTo>
                  <a:lnTo>
                    <a:pt x="810324" y="0"/>
                  </a:lnTo>
                  <a:lnTo>
                    <a:pt x="810324" y="380852"/>
                  </a:lnTo>
                  <a:lnTo>
                    <a:pt x="0" y="38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2" name="Freeform 82"/>
            <p:cNvSpPr/>
            <p:nvPr/>
          </p:nvSpPr>
          <p:spPr>
            <a:xfrm rot="-10800000" flipH="1">
              <a:off x="9925338" y="9363223"/>
              <a:ext cx="810324" cy="380852"/>
            </a:xfrm>
            <a:custGeom>
              <a:avLst/>
              <a:gdLst/>
              <a:ahLst/>
              <a:cxnLst/>
              <a:rect l="l" t="t" r="r" b="b"/>
              <a:pathLst>
                <a:path w="810324" h="380852">
                  <a:moveTo>
                    <a:pt x="810324" y="0"/>
                  </a:moveTo>
                  <a:lnTo>
                    <a:pt x="0" y="0"/>
                  </a:lnTo>
                  <a:lnTo>
                    <a:pt x="0" y="380853"/>
                  </a:lnTo>
                  <a:lnTo>
                    <a:pt x="810324" y="380853"/>
                  </a:lnTo>
                  <a:lnTo>
                    <a:pt x="810324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5896154" y="3798688"/>
              <a:ext cx="3860478" cy="29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2"/>
                </a:lnSpc>
              </a:pPr>
              <a:r>
                <a:rPr lang="en-US" sz="128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Image Data + Telementary Data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37122" y="1477097"/>
              <a:ext cx="2845700" cy="310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6"/>
                </a:lnSpc>
              </a:pPr>
              <a:r>
                <a:rPr lang="en-US" sz="139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MATLAB-ROS(Toolbox)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920672" y="8140419"/>
              <a:ext cx="3860478" cy="29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2"/>
                </a:lnSpc>
              </a:pPr>
              <a:r>
                <a:rPr lang="en-US" sz="128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Gazebo Simulation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06992" y="10827130"/>
              <a:ext cx="3860478" cy="29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2"/>
                </a:lnSpc>
              </a:pPr>
              <a:r>
                <a:rPr lang="en-US" sz="128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ArduPilot Software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181108" y="10851719"/>
              <a:ext cx="1659390" cy="26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Ardupilot in SITL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85950"/>
            <a:ext cx="16230600" cy="8229600"/>
            <a:chOff x="0" y="0"/>
            <a:chExt cx="4162030" cy="21103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2030" cy="2110325"/>
            </a:xfrm>
            <a:custGeom>
              <a:avLst/>
              <a:gdLst/>
              <a:ahLst/>
              <a:cxnLst/>
              <a:rect l="l" t="t" r="r" b="b"/>
              <a:pathLst>
                <a:path w="4162030" h="2110325">
                  <a:moveTo>
                    <a:pt x="14310" y="0"/>
                  </a:moveTo>
                  <a:lnTo>
                    <a:pt x="4147720" y="0"/>
                  </a:lnTo>
                  <a:cubicBezTo>
                    <a:pt x="4151516" y="0"/>
                    <a:pt x="4155155" y="1508"/>
                    <a:pt x="4157839" y="4191"/>
                  </a:cubicBezTo>
                  <a:cubicBezTo>
                    <a:pt x="4160522" y="6875"/>
                    <a:pt x="4162030" y="10515"/>
                    <a:pt x="4162030" y="14310"/>
                  </a:cubicBezTo>
                  <a:lnTo>
                    <a:pt x="4162030" y="2096015"/>
                  </a:lnTo>
                  <a:cubicBezTo>
                    <a:pt x="4162030" y="2099810"/>
                    <a:pt x="4160522" y="2103450"/>
                    <a:pt x="4157839" y="2106134"/>
                  </a:cubicBezTo>
                  <a:cubicBezTo>
                    <a:pt x="4155155" y="2108817"/>
                    <a:pt x="4151516" y="2110325"/>
                    <a:pt x="4147720" y="2110325"/>
                  </a:cubicBezTo>
                  <a:lnTo>
                    <a:pt x="14310" y="2110325"/>
                  </a:lnTo>
                  <a:cubicBezTo>
                    <a:pt x="10515" y="2110325"/>
                    <a:pt x="6875" y="2108817"/>
                    <a:pt x="4191" y="2106134"/>
                  </a:cubicBezTo>
                  <a:cubicBezTo>
                    <a:pt x="1508" y="2103450"/>
                    <a:pt x="0" y="2099810"/>
                    <a:pt x="0" y="2096015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E27C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162030" cy="2119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885950"/>
            <a:ext cx="8308842" cy="8229600"/>
            <a:chOff x="0" y="0"/>
            <a:chExt cx="2130645" cy="21103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0645" cy="2110325"/>
            </a:xfrm>
            <a:custGeom>
              <a:avLst/>
              <a:gdLst/>
              <a:ahLst/>
              <a:cxnLst/>
              <a:rect l="l" t="t" r="r" b="b"/>
              <a:pathLst>
                <a:path w="2130645" h="2110325">
                  <a:moveTo>
                    <a:pt x="0" y="0"/>
                  </a:moveTo>
                  <a:lnTo>
                    <a:pt x="2130645" y="0"/>
                  </a:lnTo>
                  <a:lnTo>
                    <a:pt x="2130645" y="2110325"/>
                  </a:lnTo>
                  <a:lnTo>
                    <a:pt x="0" y="2110325"/>
                  </a:lnTo>
                  <a:close/>
                </a:path>
              </a:pathLst>
            </a:custGeom>
            <a:solidFill>
              <a:srgbClr val="FFE27C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30645" cy="2119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31214" y="3419549"/>
            <a:ext cx="7912786" cy="143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The ROS 2 workspace processes raw tracking states and manages 3D spatial orientations directly within unit quaternion vector spaces.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214" y="5264785"/>
            <a:ext cx="7912786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The x, y, and z coordinates, along with the physical states gathered by the pipeline, are directly relayed to the drone's processing system for navigation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19708" y="3657674"/>
            <a:ext cx="7322173" cy="95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9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 proprietary DJI autopilot system designed to stabilize the drone.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19708" y="5022533"/>
            <a:ext cx="7322173" cy="175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The flight control loop operates completely manually; a person interacts with a smartphone Flask app by pressing buttons, and the Tello SDK carries out basic blind movements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1214" y="6999432"/>
            <a:ext cx="7912786" cy="148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A highly modular, distributed middleware network with distinct, independent nodes (ROS 2 Humble) managing separate data pipelines: rtsp_camera_ingest_node, imu_bridge_node, and sync_node.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9708" y="6887037"/>
            <a:ext cx="7322173" cy="171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Utilized a monolithic local server to process a single video stream, decode it through an asynchronous FFmpeg thread, and render the output.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1214" y="8782734"/>
            <a:ext cx="7912786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Perform Visual-Inertial Odometry by integrating the drone's IMU data into the reconstruction loop and implementing Ray-Casting Voxel Grid techniques like OctoMap or Voxblox.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9708" y="8735109"/>
            <a:ext cx="7322173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Their 3D reconstruction uses monocular computer vision algorithms, combining DROID-SLAM for deep visual SLAM with CDS-MVSNet for efficient image frame processing.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02290" y="1885950"/>
            <a:ext cx="7957010" cy="1438349"/>
            <a:chOff x="0" y="0"/>
            <a:chExt cx="2040425" cy="3688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40425" cy="368837"/>
            </a:xfrm>
            <a:custGeom>
              <a:avLst/>
              <a:gdLst/>
              <a:ahLst/>
              <a:cxnLst/>
              <a:rect l="l" t="t" r="r" b="b"/>
              <a:pathLst>
                <a:path w="2040425" h="368837">
                  <a:moveTo>
                    <a:pt x="0" y="0"/>
                  </a:moveTo>
                  <a:lnTo>
                    <a:pt x="2040425" y="0"/>
                  </a:lnTo>
                  <a:lnTo>
                    <a:pt x="2040425" y="368837"/>
                  </a:lnTo>
                  <a:lnTo>
                    <a:pt x="0" y="368837"/>
                  </a:lnTo>
                  <a:close/>
                </a:path>
              </a:pathLst>
            </a:custGeom>
            <a:solidFill>
              <a:srgbClr val="CDBBFF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040425" cy="378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4199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Existed Work(Base Paper)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1885950"/>
            <a:ext cx="8308842" cy="1438349"/>
            <a:chOff x="0" y="0"/>
            <a:chExt cx="2130645" cy="3688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30645" cy="368837"/>
            </a:xfrm>
            <a:custGeom>
              <a:avLst/>
              <a:gdLst/>
              <a:ahLst/>
              <a:cxnLst/>
              <a:rect l="l" t="t" r="r" b="b"/>
              <a:pathLst>
                <a:path w="2130645" h="368837">
                  <a:moveTo>
                    <a:pt x="0" y="0"/>
                  </a:moveTo>
                  <a:lnTo>
                    <a:pt x="2130645" y="0"/>
                  </a:lnTo>
                  <a:lnTo>
                    <a:pt x="2130645" y="368837"/>
                  </a:lnTo>
                  <a:lnTo>
                    <a:pt x="0" y="368837"/>
                  </a:lnTo>
                  <a:close/>
                </a:path>
              </a:pathLst>
            </a:custGeom>
            <a:solidFill>
              <a:srgbClr val="CDBBFF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130645" cy="378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4199" b="1">
                  <a:solidFill>
                    <a:srgbClr val="32303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Proposed Work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19313" y="519113"/>
            <a:ext cx="1504937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9600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COMPARITIVE ANALYSIS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028700" y="5001968"/>
            <a:ext cx="16079982" cy="0"/>
          </a:xfrm>
          <a:prstGeom prst="line">
            <a:avLst/>
          </a:prstGeom>
          <a:ln w="19050" cap="flat">
            <a:solidFill>
              <a:srgbClr val="3230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028700" y="6768147"/>
            <a:ext cx="16079982" cy="0"/>
          </a:xfrm>
          <a:prstGeom prst="line">
            <a:avLst/>
          </a:prstGeom>
          <a:ln w="19050" cap="flat">
            <a:solidFill>
              <a:srgbClr val="3230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028700" y="8604712"/>
            <a:ext cx="16079982" cy="0"/>
          </a:xfrm>
          <a:prstGeom prst="line">
            <a:avLst/>
          </a:prstGeom>
          <a:ln w="19050" cap="flat">
            <a:solidFill>
              <a:srgbClr val="3230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4579" y="887412"/>
            <a:ext cx="5801529" cy="865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500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3D MAPPING OF AN ENVIRONMENT USING NORMAL MONOCULAR CAMERA AND CONTROLLING THE DRONE BY VISUAL-INERTIAL ODOMETRY (VIO)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01407" y="0"/>
            <a:ext cx="10609018" cy="10157375"/>
            <a:chOff x="0" y="0"/>
            <a:chExt cx="2720482" cy="2604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20482" cy="2604666"/>
            </a:xfrm>
            <a:custGeom>
              <a:avLst/>
              <a:gdLst/>
              <a:ahLst/>
              <a:cxnLst/>
              <a:rect l="l" t="t" r="r" b="b"/>
              <a:pathLst>
                <a:path w="2720482" h="2604666">
                  <a:moveTo>
                    <a:pt x="21892" y="0"/>
                  </a:moveTo>
                  <a:lnTo>
                    <a:pt x="2698589" y="0"/>
                  </a:lnTo>
                  <a:cubicBezTo>
                    <a:pt x="2704396" y="0"/>
                    <a:pt x="2709964" y="2307"/>
                    <a:pt x="2714070" y="6412"/>
                  </a:cubicBezTo>
                  <a:cubicBezTo>
                    <a:pt x="2718175" y="10518"/>
                    <a:pt x="2720482" y="16086"/>
                    <a:pt x="2720482" y="21892"/>
                  </a:cubicBezTo>
                  <a:lnTo>
                    <a:pt x="2720482" y="2582774"/>
                  </a:lnTo>
                  <a:cubicBezTo>
                    <a:pt x="2720482" y="2588580"/>
                    <a:pt x="2718175" y="2594149"/>
                    <a:pt x="2714070" y="2598254"/>
                  </a:cubicBezTo>
                  <a:cubicBezTo>
                    <a:pt x="2709964" y="2602360"/>
                    <a:pt x="2704396" y="2604666"/>
                    <a:pt x="2698589" y="2604666"/>
                  </a:cubicBezTo>
                  <a:lnTo>
                    <a:pt x="21892" y="2604666"/>
                  </a:lnTo>
                  <a:cubicBezTo>
                    <a:pt x="16086" y="2604666"/>
                    <a:pt x="10518" y="2602360"/>
                    <a:pt x="6412" y="2598254"/>
                  </a:cubicBezTo>
                  <a:cubicBezTo>
                    <a:pt x="2307" y="2594149"/>
                    <a:pt x="0" y="2588580"/>
                    <a:pt x="0" y="2582774"/>
                  </a:cubicBezTo>
                  <a:lnTo>
                    <a:pt x="0" y="21892"/>
                  </a:lnTo>
                  <a:cubicBezTo>
                    <a:pt x="0" y="16086"/>
                    <a:pt x="2307" y="10518"/>
                    <a:pt x="6412" y="6412"/>
                  </a:cubicBezTo>
                  <a:cubicBezTo>
                    <a:pt x="10518" y="2307"/>
                    <a:pt x="16086" y="0"/>
                    <a:pt x="21892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720482" cy="2614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177840" y="236379"/>
            <a:ext cx="1466958" cy="733479"/>
          </a:xfrm>
          <a:custGeom>
            <a:avLst/>
            <a:gdLst/>
            <a:ahLst/>
            <a:cxnLst/>
            <a:rect l="l" t="t" r="r" b="b"/>
            <a:pathLst>
              <a:path w="1466958" h="733479">
                <a:moveTo>
                  <a:pt x="0" y="0"/>
                </a:moveTo>
                <a:lnTo>
                  <a:pt x="1466958" y="0"/>
                </a:lnTo>
                <a:lnTo>
                  <a:pt x="1466958" y="733479"/>
                </a:lnTo>
                <a:lnTo>
                  <a:pt x="0" y="733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H="1">
            <a:off x="9565704" y="603119"/>
            <a:ext cx="1612136" cy="119250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>
            <a:off x="12644798" y="603119"/>
            <a:ext cx="1539231" cy="119020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8498882" y="2436406"/>
            <a:ext cx="2478031" cy="2238326"/>
            <a:chOff x="0" y="0"/>
            <a:chExt cx="3295218" cy="29764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95218" cy="2976464"/>
            </a:xfrm>
            <a:custGeom>
              <a:avLst/>
              <a:gdLst/>
              <a:ahLst/>
              <a:cxnLst/>
              <a:rect l="l" t="t" r="r" b="b"/>
              <a:pathLst>
                <a:path w="3295218" h="2976464">
                  <a:moveTo>
                    <a:pt x="0" y="0"/>
                  </a:moveTo>
                  <a:lnTo>
                    <a:pt x="3295218" y="0"/>
                  </a:lnTo>
                  <a:lnTo>
                    <a:pt x="3295218" y="2976464"/>
                  </a:lnTo>
                  <a:lnTo>
                    <a:pt x="0" y="2976464"/>
                  </a:lnTo>
                  <a:close/>
                </a:path>
              </a:pathLst>
            </a:custGeom>
            <a:solidFill>
              <a:srgbClr val="FFEB9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3295218" cy="3005039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      -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      -   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      - 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ψ     -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θ      -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Φ     -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camera feed (x,y)</a:t>
              </a:r>
            </a:p>
          </p:txBody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038" y="2561840"/>
            <a:ext cx="733478" cy="369812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038" y="2847608"/>
            <a:ext cx="733478" cy="37839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038" y="3141963"/>
            <a:ext cx="733478" cy="380639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038" y="3400355"/>
            <a:ext cx="733478" cy="36178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4038" y="3678094"/>
            <a:ext cx="733478" cy="380639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4038" y="3974689"/>
            <a:ext cx="733478" cy="360495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13489117" y="2436406"/>
            <a:ext cx="2478031" cy="2238326"/>
            <a:chOff x="0" y="0"/>
            <a:chExt cx="3295218" cy="2976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95218" cy="2976464"/>
            </a:xfrm>
            <a:custGeom>
              <a:avLst/>
              <a:gdLst/>
              <a:ahLst/>
              <a:cxnLst/>
              <a:rect l="l" t="t" r="r" b="b"/>
              <a:pathLst>
                <a:path w="3295218" h="2976464">
                  <a:moveTo>
                    <a:pt x="0" y="0"/>
                  </a:moveTo>
                  <a:lnTo>
                    <a:pt x="3295218" y="0"/>
                  </a:lnTo>
                  <a:lnTo>
                    <a:pt x="3295218" y="2976464"/>
                  </a:lnTo>
                  <a:lnTo>
                    <a:pt x="0" y="2976464"/>
                  </a:lnTo>
                  <a:close/>
                </a:path>
              </a:pathLst>
            </a:custGeom>
            <a:solidFill>
              <a:srgbClr val="E1A8F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295218" cy="3005039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Manual Controll over parameters (SO3).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Visual-Inertial Odometry (VIO).</a:t>
              </a:r>
            </a:p>
            <a:p>
              <a:pPr marL="354540" lvl="1" indent="-177270" algn="l">
                <a:lnSpc>
                  <a:spcPts val="2299"/>
                </a:lnSpc>
                <a:buFont typeface="Arial"/>
                <a:buChar char="•"/>
              </a:pPr>
              <a:r>
                <a:rPr lang="en-US" sz="16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SLAM.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98882" y="5078687"/>
            <a:ext cx="7491709" cy="4659768"/>
            <a:chOff x="0" y="0"/>
            <a:chExt cx="9962268" cy="61964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62268" cy="6196431"/>
            </a:xfrm>
            <a:custGeom>
              <a:avLst/>
              <a:gdLst/>
              <a:ahLst/>
              <a:cxnLst/>
              <a:rect l="l" t="t" r="r" b="b"/>
              <a:pathLst>
                <a:path w="9962268" h="6196431">
                  <a:moveTo>
                    <a:pt x="0" y="0"/>
                  </a:moveTo>
                  <a:lnTo>
                    <a:pt x="9962268" y="0"/>
                  </a:lnTo>
                  <a:lnTo>
                    <a:pt x="9962268" y="6196431"/>
                  </a:lnTo>
                  <a:lnTo>
                    <a:pt x="0" y="6196431"/>
                  </a:lnTo>
                  <a:close/>
                </a:path>
              </a:pathLst>
            </a:custGeom>
            <a:solidFill>
              <a:srgbClr val="99A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962268" cy="6196431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5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575588" y="6038226"/>
            <a:ext cx="2896993" cy="860275"/>
          </a:xfrm>
          <a:custGeom>
            <a:avLst/>
            <a:gdLst/>
            <a:ahLst/>
            <a:cxnLst/>
            <a:rect l="l" t="t" r="r" b="b"/>
            <a:pathLst>
              <a:path w="2896993" h="860275">
                <a:moveTo>
                  <a:pt x="0" y="0"/>
                </a:moveTo>
                <a:lnTo>
                  <a:pt x="2896992" y="0"/>
                </a:lnTo>
                <a:lnTo>
                  <a:pt x="2896992" y="860274"/>
                </a:lnTo>
                <a:lnTo>
                  <a:pt x="0" y="8602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AutoShape 25"/>
          <p:cNvSpPr/>
          <p:nvPr/>
        </p:nvSpPr>
        <p:spPr>
          <a:xfrm flipH="1">
            <a:off x="11896392" y="969858"/>
            <a:ext cx="14926" cy="410882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AutoShape 26"/>
          <p:cNvSpPr/>
          <p:nvPr/>
        </p:nvSpPr>
        <p:spPr>
          <a:xfrm flipV="1">
            <a:off x="12091075" y="969858"/>
            <a:ext cx="14926" cy="410882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7" name="AutoShape 27"/>
          <p:cNvSpPr/>
          <p:nvPr/>
        </p:nvSpPr>
        <p:spPr>
          <a:xfrm>
            <a:off x="9737897" y="4674732"/>
            <a:ext cx="987504" cy="4039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 flipH="1">
            <a:off x="13594603" y="4674732"/>
            <a:ext cx="1133529" cy="4039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8964947" y="7015385"/>
            <a:ext cx="1610640" cy="1467868"/>
            <a:chOff x="0" y="0"/>
            <a:chExt cx="2141785" cy="19519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41785" cy="1951930"/>
            </a:xfrm>
            <a:custGeom>
              <a:avLst/>
              <a:gdLst/>
              <a:ahLst/>
              <a:cxnLst/>
              <a:rect l="l" t="t" r="r" b="b"/>
              <a:pathLst>
                <a:path w="2141785" h="1951930">
                  <a:moveTo>
                    <a:pt x="14420" y="0"/>
                  </a:moveTo>
                  <a:lnTo>
                    <a:pt x="2127365" y="0"/>
                  </a:lnTo>
                  <a:cubicBezTo>
                    <a:pt x="2135329" y="0"/>
                    <a:pt x="2141785" y="6456"/>
                    <a:pt x="2141785" y="14420"/>
                  </a:cubicBezTo>
                  <a:lnTo>
                    <a:pt x="2141785" y="1937510"/>
                  </a:lnTo>
                  <a:cubicBezTo>
                    <a:pt x="2141785" y="1945474"/>
                    <a:pt x="2135329" y="1951930"/>
                    <a:pt x="2127365" y="1951930"/>
                  </a:cubicBezTo>
                  <a:lnTo>
                    <a:pt x="14420" y="1951930"/>
                  </a:lnTo>
                  <a:cubicBezTo>
                    <a:pt x="6456" y="1951930"/>
                    <a:pt x="0" y="1945474"/>
                    <a:pt x="0" y="1937510"/>
                  </a:cubicBezTo>
                  <a:lnTo>
                    <a:pt x="0" y="14420"/>
                  </a:lnTo>
                  <a:cubicBezTo>
                    <a:pt x="0" y="6456"/>
                    <a:pt x="6456" y="0"/>
                    <a:pt x="14420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141785" cy="197098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237" b="1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Estimator Node (Observation Part)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16498" y="7015385"/>
            <a:ext cx="1610640" cy="1467868"/>
            <a:chOff x="0" y="0"/>
            <a:chExt cx="2141785" cy="195193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41785" cy="1951930"/>
            </a:xfrm>
            <a:custGeom>
              <a:avLst/>
              <a:gdLst/>
              <a:ahLst/>
              <a:cxnLst/>
              <a:rect l="l" t="t" r="r" b="b"/>
              <a:pathLst>
                <a:path w="2141785" h="1951930">
                  <a:moveTo>
                    <a:pt x="14420" y="0"/>
                  </a:moveTo>
                  <a:lnTo>
                    <a:pt x="2127365" y="0"/>
                  </a:lnTo>
                  <a:cubicBezTo>
                    <a:pt x="2135329" y="0"/>
                    <a:pt x="2141785" y="6456"/>
                    <a:pt x="2141785" y="14420"/>
                  </a:cubicBezTo>
                  <a:lnTo>
                    <a:pt x="2141785" y="1937510"/>
                  </a:lnTo>
                  <a:cubicBezTo>
                    <a:pt x="2141785" y="1945474"/>
                    <a:pt x="2135329" y="1951930"/>
                    <a:pt x="2127365" y="1951930"/>
                  </a:cubicBezTo>
                  <a:lnTo>
                    <a:pt x="14420" y="1951930"/>
                  </a:lnTo>
                  <a:cubicBezTo>
                    <a:pt x="6456" y="1951930"/>
                    <a:pt x="0" y="1945474"/>
                    <a:pt x="0" y="1937510"/>
                  </a:cubicBezTo>
                  <a:lnTo>
                    <a:pt x="0" y="14420"/>
                  </a:lnTo>
                  <a:cubicBezTo>
                    <a:pt x="0" y="6456"/>
                    <a:pt x="6456" y="0"/>
                    <a:pt x="14420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141785" cy="197098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237" b="1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Controller Node (Control Part)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055232" y="7015385"/>
            <a:ext cx="1610640" cy="1467868"/>
            <a:chOff x="0" y="0"/>
            <a:chExt cx="2141785" cy="19519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41785" cy="1951930"/>
            </a:xfrm>
            <a:custGeom>
              <a:avLst/>
              <a:gdLst/>
              <a:ahLst/>
              <a:cxnLst/>
              <a:rect l="l" t="t" r="r" b="b"/>
              <a:pathLst>
                <a:path w="2141785" h="1951930">
                  <a:moveTo>
                    <a:pt x="14420" y="0"/>
                  </a:moveTo>
                  <a:lnTo>
                    <a:pt x="2127365" y="0"/>
                  </a:lnTo>
                  <a:cubicBezTo>
                    <a:pt x="2135329" y="0"/>
                    <a:pt x="2141785" y="6456"/>
                    <a:pt x="2141785" y="14420"/>
                  </a:cubicBezTo>
                  <a:lnTo>
                    <a:pt x="2141785" y="1937510"/>
                  </a:lnTo>
                  <a:cubicBezTo>
                    <a:pt x="2141785" y="1945474"/>
                    <a:pt x="2135329" y="1951930"/>
                    <a:pt x="2127365" y="1951930"/>
                  </a:cubicBezTo>
                  <a:lnTo>
                    <a:pt x="14420" y="1951930"/>
                  </a:lnTo>
                  <a:cubicBezTo>
                    <a:pt x="6456" y="1951930"/>
                    <a:pt x="0" y="1945474"/>
                    <a:pt x="0" y="1937510"/>
                  </a:cubicBezTo>
                  <a:lnTo>
                    <a:pt x="0" y="14420"/>
                  </a:lnTo>
                  <a:cubicBezTo>
                    <a:pt x="0" y="6456"/>
                    <a:pt x="6456" y="0"/>
                    <a:pt x="14420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2141785" cy="197098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237" b="1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Actuator Bridge Node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870518" y="8864253"/>
            <a:ext cx="740315" cy="74031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9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Publisher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980451" y="8864253"/>
            <a:ext cx="740315" cy="740315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CA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endParaRPr/>
            </a:p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subscriber</a:t>
              </a:r>
            </a:p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endParaRPr lang="en-US" sz="8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44" name="AutoShape 44"/>
          <p:cNvSpPr/>
          <p:nvPr/>
        </p:nvSpPr>
        <p:spPr>
          <a:xfrm flipV="1">
            <a:off x="9240675" y="8483253"/>
            <a:ext cx="529592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H="1" flipV="1">
            <a:off x="9770267" y="8483253"/>
            <a:ext cx="580341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11279981" y="8864253"/>
            <a:ext cx="740315" cy="74031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9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Publisher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244736" y="8864253"/>
            <a:ext cx="740315" cy="740315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CA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subscriber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 flipV="1">
            <a:off x="11650139" y="8483253"/>
            <a:ext cx="571680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 flipH="1" flipV="1">
            <a:off x="12221818" y="8483253"/>
            <a:ext cx="393075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14096795" y="8864253"/>
            <a:ext cx="740315" cy="740315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9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Publisher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061550" y="8864253"/>
            <a:ext cx="740315" cy="740315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CA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7137" tIns="17137" rIns="17137" bIns="17137" rtlCol="0" anchor="ctr"/>
            <a:lstStyle/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subscriber</a:t>
              </a:r>
            </a:p>
          </p:txBody>
        </p:sp>
      </p:grpSp>
      <p:sp>
        <p:nvSpPr>
          <p:cNvPr id="60" name="AutoShape 60"/>
          <p:cNvSpPr/>
          <p:nvPr/>
        </p:nvSpPr>
        <p:spPr>
          <a:xfrm flipV="1">
            <a:off x="14466952" y="8483253"/>
            <a:ext cx="393600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 flipH="1" flipV="1">
            <a:off x="14860552" y="8483253"/>
            <a:ext cx="571155" cy="381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TextBox 62"/>
          <p:cNvSpPr txBox="1"/>
          <p:nvPr/>
        </p:nvSpPr>
        <p:spPr>
          <a:xfrm>
            <a:off x="8334138" y="1888483"/>
            <a:ext cx="2759225" cy="2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3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 Part Parameters: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700610" y="1916839"/>
            <a:ext cx="1856285" cy="2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3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Algorithms Parts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C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30421" y="647700"/>
            <a:ext cx="19548842" cy="98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sz="7599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TERMS AND TOOLS TO BE IMPLEMENETED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93465" y="1986341"/>
            <a:ext cx="3675598" cy="2331883"/>
            <a:chOff x="0" y="0"/>
            <a:chExt cx="4900797" cy="310917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900797" cy="3109178"/>
              <a:chOff x="0" y="0"/>
              <a:chExt cx="897080" cy="56912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97080" cy="569128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69128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505939"/>
                    </a:lnTo>
                    <a:cubicBezTo>
                      <a:pt x="897080" y="522698"/>
                      <a:pt x="890423" y="538770"/>
                      <a:pt x="878572" y="550620"/>
                    </a:cubicBezTo>
                    <a:cubicBezTo>
                      <a:pt x="866722" y="562471"/>
                      <a:pt x="850650" y="569128"/>
                      <a:pt x="833891" y="569128"/>
                    </a:cubicBezTo>
                    <a:lnTo>
                      <a:pt x="63189" y="569128"/>
                    </a:lnTo>
                    <a:cubicBezTo>
                      <a:pt x="28291" y="569128"/>
                      <a:pt x="0" y="540837"/>
                      <a:pt x="0" y="505939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897080" cy="578653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SLAM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2323" y="1447530"/>
              <a:ext cx="4207359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Simultaneous Localization and Mapping provides real-time map creation and navigation solutions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88054" y="1986341"/>
            <a:ext cx="3675598" cy="2084233"/>
            <a:chOff x="0" y="0"/>
            <a:chExt cx="4900797" cy="277897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ROS 2 (HUMBLE)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86048" y="1367407"/>
              <a:ext cx="4207358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 dirty="0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standard middleware and</a:t>
              </a:r>
            </a:p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 dirty="0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software frameworks for modern robotics development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88054" y="4755921"/>
            <a:ext cx="3675598" cy="2084233"/>
            <a:chOff x="0" y="0"/>
            <a:chExt cx="4900797" cy="277897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S03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Refers to the special orthogonal group SO(3) for modeling 3D rotations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88054" y="7525500"/>
            <a:ext cx="3675598" cy="1836583"/>
            <a:chOff x="0" y="0"/>
            <a:chExt cx="4900797" cy="244877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900797" cy="2448778"/>
              <a:chOff x="0" y="0"/>
              <a:chExt cx="897080" cy="44824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97080" cy="448243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448243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385054"/>
                    </a:lnTo>
                    <a:cubicBezTo>
                      <a:pt x="897080" y="419953"/>
                      <a:pt x="868789" y="448243"/>
                      <a:pt x="833891" y="448243"/>
                    </a:cubicBezTo>
                    <a:lnTo>
                      <a:pt x="63189" y="448243"/>
                    </a:lnTo>
                    <a:cubicBezTo>
                      <a:pt x="28291" y="448243"/>
                      <a:pt x="0" y="419953"/>
                      <a:pt x="0" y="385054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9525"/>
                <a:ext cx="897080" cy="457768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ROBOSTACK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82323" y="1447530"/>
              <a:ext cx="4207359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Conda-based distributions for seamless ROS installation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82642" y="1986341"/>
            <a:ext cx="3675598" cy="2331883"/>
            <a:chOff x="0" y="0"/>
            <a:chExt cx="4900797" cy="3109178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900797" cy="3109178"/>
              <a:chOff x="0" y="0"/>
              <a:chExt cx="897080" cy="56912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97080" cy="569128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69128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505939"/>
                    </a:lnTo>
                    <a:cubicBezTo>
                      <a:pt x="897080" y="522698"/>
                      <a:pt x="890423" y="538770"/>
                      <a:pt x="878572" y="550620"/>
                    </a:cubicBezTo>
                    <a:cubicBezTo>
                      <a:pt x="866722" y="562471"/>
                      <a:pt x="850650" y="569128"/>
                      <a:pt x="833891" y="569128"/>
                    </a:cubicBezTo>
                    <a:lnTo>
                      <a:pt x="63189" y="569128"/>
                    </a:lnTo>
                    <a:cubicBezTo>
                      <a:pt x="28291" y="569128"/>
                      <a:pt x="0" y="540837"/>
                      <a:pt x="0" y="505939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897080" cy="578653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MATLAB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82323" y="1447530"/>
              <a:ext cx="4207359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Powerful platform for algorithm development, data analysis, and numerical computation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82642" y="4755921"/>
            <a:ext cx="3675598" cy="2084233"/>
            <a:chOff x="0" y="0"/>
            <a:chExt cx="4900797" cy="2778978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DDS</a:t>
                </a:r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Distribution Service, the underlying communication protocol for ROS 2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82642" y="7525500"/>
            <a:ext cx="3675598" cy="2084233"/>
            <a:chOff x="0" y="0"/>
            <a:chExt cx="4900797" cy="2778978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MAVROS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 ROS 2 to MAVLink bridge for communicating with ArduPilot/PX4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277230" y="1986341"/>
            <a:ext cx="3675598" cy="2084233"/>
            <a:chOff x="0" y="0"/>
            <a:chExt cx="4900797" cy="2778978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VIO</a:t>
                </a:r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Visual-Inertial Odometry, combining camera and IMU data for precise tracking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277230" y="4755921"/>
            <a:ext cx="3675598" cy="2084233"/>
            <a:chOff x="0" y="0"/>
            <a:chExt cx="4900797" cy="2778978"/>
          </a:xfrm>
        </p:grpSpPr>
        <p:grpSp>
          <p:nvGrpSpPr>
            <p:cNvPr id="68" name="Group 68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POINT CLOUD</a:t>
                </a:r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3D Laser Representation of 3D objects as a dense set of points, for perception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277230" y="7525500"/>
            <a:ext cx="3675598" cy="2084233"/>
            <a:chOff x="0" y="0"/>
            <a:chExt cx="4900797" cy="2778978"/>
          </a:xfrm>
        </p:grpSpPr>
        <p:grpSp>
          <p:nvGrpSpPr>
            <p:cNvPr id="76" name="Group 76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BODY PIERCINGS</a:t>
                </a:r>
              </a:p>
            </p:txBody>
          </p:sp>
        </p:grpSp>
        <p:sp>
          <p:nvSpPr>
            <p:cNvPr id="82" name="TextBox 82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 specific system-level constraint reference or a structural component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93465" y="4755921"/>
            <a:ext cx="3675598" cy="2331883"/>
            <a:chOff x="0" y="0"/>
            <a:chExt cx="4900797" cy="3109178"/>
          </a:xfrm>
        </p:grpSpPr>
        <p:grpSp>
          <p:nvGrpSpPr>
            <p:cNvPr id="84" name="Group 84"/>
            <p:cNvGrpSpPr/>
            <p:nvPr/>
          </p:nvGrpSpPr>
          <p:grpSpPr>
            <a:xfrm>
              <a:off x="0" y="0"/>
              <a:ext cx="4900797" cy="3109178"/>
              <a:chOff x="0" y="0"/>
              <a:chExt cx="897080" cy="56912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97080" cy="569128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69128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505939"/>
                    </a:lnTo>
                    <a:cubicBezTo>
                      <a:pt x="897080" y="522698"/>
                      <a:pt x="890423" y="538770"/>
                      <a:pt x="878572" y="550620"/>
                    </a:cubicBezTo>
                    <a:cubicBezTo>
                      <a:pt x="866722" y="562471"/>
                      <a:pt x="850650" y="569128"/>
                      <a:pt x="833891" y="569128"/>
                    </a:cubicBezTo>
                    <a:lnTo>
                      <a:pt x="63189" y="569128"/>
                    </a:lnTo>
                    <a:cubicBezTo>
                      <a:pt x="28291" y="569128"/>
                      <a:pt x="0" y="540837"/>
                      <a:pt x="0" y="505939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-9525"/>
                <a:ext cx="897080" cy="578653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PID CONTROLLER</a:t>
                </a:r>
              </a:p>
            </p:txBody>
          </p:sp>
        </p:grpSp>
        <p:sp>
          <p:nvSpPr>
            <p:cNvPr id="90" name="TextBox 90"/>
            <p:cNvSpPr txBox="1"/>
            <p:nvPr/>
          </p:nvSpPr>
          <p:spPr>
            <a:xfrm>
              <a:off x="382323" y="1447530"/>
              <a:ext cx="4207359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Feedback controller for precise trajectory and attitude control of robotic systems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93465" y="7525500"/>
            <a:ext cx="3675598" cy="2084233"/>
            <a:chOff x="0" y="0"/>
            <a:chExt cx="4900797" cy="2778978"/>
          </a:xfrm>
        </p:grpSpPr>
        <p:grpSp>
          <p:nvGrpSpPr>
            <p:cNvPr id="92" name="Group 92"/>
            <p:cNvGrpSpPr/>
            <p:nvPr/>
          </p:nvGrpSpPr>
          <p:grpSpPr>
            <a:xfrm>
              <a:off x="0" y="0"/>
              <a:ext cx="4900797" cy="2778978"/>
              <a:chOff x="0" y="0"/>
              <a:chExt cx="897080" cy="50868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97080" cy="508686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508686">
                    <a:moveTo>
                      <a:pt x="63189" y="0"/>
                    </a:moveTo>
                    <a:lnTo>
                      <a:pt x="833891" y="0"/>
                    </a:lnTo>
                    <a:cubicBezTo>
                      <a:pt x="868789" y="0"/>
                      <a:pt x="897080" y="28291"/>
                      <a:pt x="897080" y="63189"/>
                    </a:cubicBezTo>
                    <a:lnTo>
                      <a:pt x="897080" y="445497"/>
                    </a:lnTo>
                    <a:cubicBezTo>
                      <a:pt x="897080" y="462255"/>
                      <a:pt x="890423" y="478328"/>
                      <a:pt x="878572" y="490178"/>
                    </a:cubicBezTo>
                    <a:cubicBezTo>
                      <a:pt x="866722" y="502028"/>
                      <a:pt x="850650" y="508686"/>
                      <a:pt x="833891" y="508686"/>
                    </a:cubicBezTo>
                    <a:lnTo>
                      <a:pt x="63189" y="508686"/>
                    </a:lnTo>
                    <a:cubicBezTo>
                      <a:pt x="28291" y="508686"/>
                      <a:pt x="0" y="480395"/>
                      <a:pt x="0" y="445497"/>
                    </a:cubicBezTo>
                    <a:lnTo>
                      <a:pt x="0" y="63189"/>
                    </a:lnTo>
                    <a:cubicBezTo>
                      <a:pt x="0" y="28291"/>
                      <a:pt x="28291" y="0"/>
                      <a:pt x="63189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0" y="-9525"/>
                <a:ext cx="897080" cy="518211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0" y="0"/>
              <a:ext cx="4900797" cy="1114011"/>
              <a:chOff x="0" y="0"/>
              <a:chExt cx="897080" cy="20391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97080" cy="203917"/>
              </a:xfrm>
              <a:custGeom>
                <a:avLst/>
                <a:gdLst/>
                <a:ahLst/>
                <a:cxnLst/>
                <a:rect l="l" t="t" r="r" b="b"/>
                <a:pathLst>
                  <a:path w="897080" h="203917">
                    <a:moveTo>
                      <a:pt x="0" y="0"/>
                    </a:moveTo>
                    <a:lnTo>
                      <a:pt x="897080" y="0"/>
                    </a:lnTo>
                    <a:lnTo>
                      <a:pt x="897080" y="203917"/>
                    </a:lnTo>
                    <a:lnTo>
                      <a:pt x="0" y="203917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0" y="-9525"/>
                <a:ext cx="897080" cy="213442"/>
              </a:xfrm>
              <a:prstGeom prst="rect">
                <a:avLst/>
              </a:prstGeom>
            </p:spPr>
            <p:txBody>
              <a:bodyPr lIns="53374" tIns="53374" rIns="53374" bIns="53374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500" b="1" spc="150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MAVLINK</a:t>
                </a:r>
              </a:p>
            </p:txBody>
          </p:sp>
        </p:grpSp>
        <p:sp>
          <p:nvSpPr>
            <p:cNvPr id="98" name="TextBox 98"/>
            <p:cNvSpPr txBox="1"/>
            <p:nvPr/>
          </p:nvSpPr>
          <p:spPr>
            <a:xfrm>
              <a:off x="382323" y="1447530"/>
              <a:ext cx="4207359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6"/>
                </a:lnSpc>
                <a:spcBef>
                  <a:spcPct val="0"/>
                </a:spcBef>
              </a:pPr>
              <a:r>
                <a:rPr lang="en-US" sz="1680" b="1">
                  <a:solidFill>
                    <a:srgbClr val="3230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 light-weight communicable protocol for micro air vehicles (MAVs)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752" y="1504950"/>
            <a:ext cx="8207248" cy="2560536"/>
            <a:chOff x="0" y="0"/>
            <a:chExt cx="1910597" cy="596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6078" y="4350543"/>
            <a:ext cx="8207248" cy="2560536"/>
            <a:chOff x="0" y="0"/>
            <a:chExt cx="1910597" cy="596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6078" y="7215186"/>
            <a:ext cx="8207248" cy="2560536"/>
            <a:chOff x="0" y="0"/>
            <a:chExt cx="1910597" cy="5960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5000" y="1496118"/>
            <a:ext cx="8207248" cy="2560536"/>
            <a:chOff x="0" y="0"/>
            <a:chExt cx="1910597" cy="5960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45326" y="4341711"/>
            <a:ext cx="8207248" cy="2560536"/>
            <a:chOff x="0" y="0"/>
            <a:chExt cx="1910597" cy="5960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45326" y="7206354"/>
            <a:ext cx="8207248" cy="2560536"/>
            <a:chOff x="0" y="0"/>
            <a:chExt cx="1910597" cy="5960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0597" cy="596077"/>
            </a:xfrm>
            <a:custGeom>
              <a:avLst/>
              <a:gdLst/>
              <a:ahLst/>
              <a:cxnLst/>
              <a:rect l="l" t="t" r="r" b="b"/>
              <a:pathLst>
                <a:path w="1910597" h="596077">
                  <a:moveTo>
                    <a:pt x="28299" y="0"/>
                  </a:moveTo>
                  <a:lnTo>
                    <a:pt x="1882298" y="0"/>
                  </a:lnTo>
                  <a:cubicBezTo>
                    <a:pt x="1897927" y="0"/>
                    <a:pt x="1910597" y="12670"/>
                    <a:pt x="1910597" y="28299"/>
                  </a:cubicBezTo>
                  <a:lnTo>
                    <a:pt x="1910597" y="567778"/>
                  </a:lnTo>
                  <a:cubicBezTo>
                    <a:pt x="1910597" y="575283"/>
                    <a:pt x="1907616" y="582481"/>
                    <a:pt x="1902309" y="587789"/>
                  </a:cubicBezTo>
                  <a:cubicBezTo>
                    <a:pt x="1897002" y="593096"/>
                    <a:pt x="1889804" y="596077"/>
                    <a:pt x="1882298" y="596077"/>
                  </a:cubicBezTo>
                  <a:lnTo>
                    <a:pt x="28299" y="596077"/>
                  </a:lnTo>
                  <a:cubicBezTo>
                    <a:pt x="20794" y="596077"/>
                    <a:pt x="13596" y="593096"/>
                    <a:pt x="8289" y="587789"/>
                  </a:cubicBezTo>
                  <a:cubicBezTo>
                    <a:pt x="2982" y="582481"/>
                    <a:pt x="0" y="575283"/>
                    <a:pt x="0" y="567778"/>
                  </a:cubicBezTo>
                  <a:lnTo>
                    <a:pt x="0" y="28299"/>
                  </a:lnTo>
                  <a:cubicBezTo>
                    <a:pt x="0" y="12670"/>
                    <a:pt x="12670" y="0"/>
                    <a:pt x="28299" y="0"/>
                  </a:cubicBezTo>
                  <a:close/>
                </a:path>
              </a:pathLst>
            </a:custGeom>
            <a:solidFill>
              <a:srgbClr val="F8F6F4"/>
            </a:solidFill>
            <a:ln w="38100" cap="rnd">
              <a:solidFill>
                <a:srgbClr val="32303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910597" cy="60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5752" y="1504950"/>
            <a:ext cx="3880469" cy="2560536"/>
            <a:chOff x="0" y="0"/>
            <a:chExt cx="903350" cy="5960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078" y="4350543"/>
            <a:ext cx="3880469" cy="2560536"/>
            <a:chOff x="0" y="0"/>
            <a:chExt cx="903350" cy="5960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6078" y="7215186"/>
            <a:ext cx="3880469" cy="2560536"/>
            <a:chOff x="0" y="0"/>
            <a:chExt cx="903350" cy="5960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0" y="1496118"/>
            <a:ext cx="3880469" cy="2560536"/>
            <a:chOff x="0" y="0"/>
            <a:chExt cx="903350" cy="5960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45326" y="4341711"/>
            <a:ext cx="3880469" cy="2560536"/>
            <a:chOff x="0" y="0"/>
            <a:chExt cx="903350" cy="5960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45326" y="7206354"/>
            <a:ext cx="3880469" cy="2560536"/>
            <a:chOff x="0" y="0"/>
            <a:chExt cx="903350" cy="59607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03350" cy="596077"/>
            </a:xfrm>
            <a:custGeom>
              <a:avLst/>
              <a:gdLst/>
              <a:ahLst/>
              <a:cxnLst/>
              <a:rect l="l" t="t" r="r" b="b"/>
              <a:pathLst>
                <a:path w="903350" h="596077">
                  <a:moveTo>
                    <a:pt x="0" y="0"/>
                  </a:moveTo>
                  <a:lnTo>
                    <a:pt x="903350" y="0"/>
                  </a:lnTo>
                  <a:lnTo>
                    <a:pt x="903350" y="596077"/>
                  </a:lnTo>
                  <a:lnTo>
                    <a:pt x="0" y="596077"/>
                  </a:lnTo>
                  <a:close/>
                </a:path>
              </a:pathLst>
            </a:custGeom>
            <a:solidFill>
              <a:srgbClr val="BFDD76"/>
            </a:solidFill>
            <a:ln w="3810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903350" cy="61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576078" y="1504950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3" y="0"/>
                </a:lnTo>
                <a:lnTo>
                  <a:pt x="3860143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596404" y="4350543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3" y="0"/>
                </a:lnTo>
                <a:lnTo>
                  <a:pt x="3860143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596404" y="7215186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3" y="0"/>
                </a:lnTo>
                <a:lnTo>
                  <a:pt x="3860143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545326" y="1496118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3" y="0"/>
                </a:lnTo>
                <a:lnTo>
                  <a:pt x="3860143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565651" y="4341711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4" y="0"/>
                </a:lnTo>
                <a:lnTo>
                  <a:pt x="3860144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565651" y="7206354"/>
            <a:ext cx="3860144" cy="2560536"/>
          </a:xfrm>
          <a:custGeom>
            <a:avLst/>
            <a:gdLst/>
            <a:ahLst/>
            <a:cxnLst/>
            <a:rect l="l" t="t" r="r" b="b"/>
            <a:pathLst>
              <a:path w="3860144" h="2560536">
                <a:moveTo>
                  <a:pt x="0" y="0"/>
                </a:moveTo>
                <a:lnTo>
                  <a:pt x="3860144" y="0"/>
                </a:lnTo>
                <a:lnTo>
                  <a:pt x="3860144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576078" y="1504950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7" y="0"/>
                </a:lnTo>
                <a:lnTo>
                  <a:pt x="3842417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96404" y="4350543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7" y="0"/>
                </a:lnTo>
                <a:lnTo>
                  <a:pt x="3842417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596404" y="7215186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7" y="0"/>
                </a:lnTo>
                <a:lnTo>
                  <a:pt x="3842417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9545326" y="1496118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7" y="0"/>
                </a:lnTo>
                <a:lnTo>
                  <a:pt x="3842417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9565651" y="4341711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8" y="0"/>
                </a:lnTo>
                <a:lnTo>
                  <a:pt x="3842418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565651" y="7206354"/>
            <a:ext cx="3842417" cy="2560536"/>
          </a:xfrm>
          <a:custGeom>
            <a:avLst/>
            <a:gdLst/>
            <a:ahLst/>
            <a:cxnLst/>
            <a:rect l="l" t="t" r="r" b="b"/>
            <a:pathLst>
              <a:path w="3842417" h="2560536">
                <a:moveTo>
                  <a:pt x="0" y="0"/>
                </a:moveTo>
                <a:lnTo>
                  <a:pt x="3842418" y="0"/>
                </a:lnTo>
                <a:lnTo>
                  <a:pt x="3842418" y="2560536"/>
                </a:lnTo>
                <a:lnTo>
                  <a:pt x="0" y="25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047"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576078" y="1504950"/>
            <a:ext cx="3842417" cy="2548778"/>
          </a:xfrm>
          <a:custGeom>
            <a:avLst/>
            <a:gdLst/>
            <a:ahLst/>
            <a:cxnLst/>
            <a:rect l="l" t="t" r="r" b="b"/>
            <a:pathLst>
              <a:path w="3842417" h="2548778">
                <a:moveTo>
                  <a:pt x="0" y="0"/>
                </a:moveTo>
                <a:lnTo>
                  <a:pt x="3842417" y="0"/>
                </a:lnTo>
                <a:lnTo>
                  <a:pt x="3842417" y="2548778"/>
                </a:lnTo>
                <a:lnTo>
                  <a:pt x="0" y="2548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596404" y="4350543"/>
            <a:ext cx="3842417" cy="2548778"/>
          </a:xfrm>
          <a:custGeom>
            <a:avLst/>
            <a:gdLst/>
            <a:ahLst/>
            <a:cxnLst/>
            <a:rect l="l" t="t" r="r" b="b"/>
            <a:pathLst>
              <a:path w="3842417" h="2548778">
                <a:moveTo>
                  <a:pt x="0" y="0"/>
                </a:moveTo>
                <a:lnTo>
                  <a:pt x="3842417" y="0"/>
                </a:lnTo>
                <a:lnTo>
                  <a:pt x="3842417" y="2548778"/>
                </a:lnTo>
                <a:lnTo>
                  <a:pt x="0" y="2548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596404" y="7215186"/>
            <a:ext cx="3842417" cy="2548778"/>
          </a:xfrm>
          <a:custGeom>
            <a:avLst/>
            <a:gdLst/>
            <a:ahLst/>
            <a:cxnLst/>
            <a:rect l="l" t="t" r="r" b="b"/>
            <a:pathLst>
              <a:path w="3842417" h="2548778">
                <a:moveTo>
                  <a:pt x="0" y="0"/>
                </a:moveTo>
                <a:lnTo>
                  <a:pt x="3842417" y="0"/>
                </a:lnTo>
                <a:lnTo>
                  <a:pt x="3842417" y="2548778"/>
                </a:lnTo>
                <a:lnTo>
                  <a:pt x="0" y="2548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596404" y="4350543"/>
            <a:ext cx="3822092" cy="2515134"/>
          </a:xfrm>
          <a:custGeom>
            <a:avLst/>
            <a:gdLst/>
            <a:ahLst/>
            <a:cxnLst/>
            <a:rect l="l" t="t" r="r" b="b"/>
            <a:pathLst>
              <a:path w="3822092" h="2515134">
                <a:moveTo>
                  <a:pt x="0" y="0"/>
                </a:moveTo>
                <a:lnTo>
                  <a:pt x="3822091" y="0"/>
                </a:lnTo>
                <a:lnTo>
                  <a:pt x="3822091" y="2515134"/>
                </a:lnTo>
                <a:lnTo>
                  <a:pt x="0" y="2515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9565651" y="4350543"/>
            <a:ext cx="3822092" cy="2515134"/>
          </a:xfrm>
          <a:custGeom>
            <a:avLst/>
            <a:gdLst/>
            <a:ahLst/>
            <a:cxnLst/>
            <a:rect l="l" t="t" r="r" b="b"/>
            <a:pathLst>
              <a:path w="3822092" h="2515134">
                <a:moveTo>
                  <a:pt x="0" y="0"/>
                </a:moveTo>
                <a:lnTo>
                  <a:pt x="3822092" y="0"/>
                </a:lnTo>
                <a:lnTo>
                  <a:pt x="3822092" y="2515134"/>
                </a:lnTo>
                <a:lnTo>
                  <a:pt x="0" y="2515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9699"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596404" y="7196829"/>
            <a:ext cx="3864444" cy="2578893"/>
          </a:xfrm>
          <a:custGeom>
            <a:avLst/>
            <a:gdLst/>
            <a:ahLst/>
            <a:cxnLst/>
            <a:rect l="l" t="t" r="r" b="b"/>
            <a:pathLst>
              <a:path w="3864444" h="2578893">
                <a:moveTo>
                  <a:pt x="0" y="0"/>
                </a:moveTo>
                <a:lnTo>
                  <a:pt x="3864444" y="0"/>
                </a:lnTo>
                <a:lnTo>
                  <a:pt x="3864444" y="2578893"/>
                </a:lnTo>
                <a:lnTo>
                  <a:pt x="0" y="2578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9565651" y="7215186"/>
            <a:ext cx="3860144" cy="2548778"/>
          </a:xfrm>
          <a:custGeom>
            <a:avLst/>
            <a:gdLst/>
            <a:ahLst/>
            <a:cxnLst/>
            <a:rect l="l" t="t" r="r" b="b"/>
            <a:pathLst>
              <a:path w="3860144" h="2548778">
                <a:moveTo>
                  <a:pt x="0" y="0"/>
                </a:moveTo>
                <a:lnTo>
                  <a:pt x="3860144" y="0"/>
                </a:lnTo>
                <a:lnTo>
                  <a:pt x="3860144" y="2548778"/>
                </a:lnTo>
                <a:lnTo>
                  <a:pt x="0" y="2548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22" r="-2822"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4727801" y="1897780"/>
            <a:ext cx="3884691" cy="17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Shows the controller reducing attitude error while tracking the desired orientation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748127" y="4743373"/>
            <a:ext cx="3884691" cy="17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Shows the control torques generated by the SO(3) controller for attitude stabilization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748127" y="7608016"/>
            <a:ext cx="3884691" cy="17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Shows the thrust command generated by the controller to maintain the required flight motion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697049" y="1888948"/>
            <a:ext cx="3884691" cy="17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The VIO estimate follows the true trajectory, demonstrating effective state estimation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717374" y="4948854"/>
            <a:ext cx="3884691" cy="129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MATLAB-generated trajectory used as the desired flight path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717374" y="7384872"/>
            <a:ext cx="3884691" cy="21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636">
                <a:solidFill>
                  <a:srgbClr val="323030"/>
                </a:solidFill>
                <a:latin typeface="Roboto"/>
                <a:ea typeface="Roboto"/>
                <a:cs typeface="Roboto"/>
                <a:sym typeface="Roboto"/>
              </a:rPr>
              <a:t>Gazebo simulation showing the multirotor model with ArduPilot SITL and ROS 2 visualization running in the loop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071440" y="426140"/>
            <a:ext cx="12145121" cy="8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5"/>
              </a:lnSpc>
            </a:pPr>
            <a:r>
              <a:rPr lang="en-US" sz="6900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RESULTS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0" y="502883"/>
            <a:ext cx="7292930" cy="649642"/>
            <a:chOff x="0" y="0"/>
            <a:chExt cx="9723907" cy="866189"/>
          </a:xfrm>
        </p:grpSpPr>
        <p:sp>
          <p:nvSpPr>
            <p:cNvPr id="65" name="AutoShape 65"/>
            <p:cNvSpPr/>
            <p:nvPr/>
          </p:nvSpPr>
          <p:spPr>
            <a:xfrm>
              <a:off x="0" y="433094"/>
              <a:ext cx="9290812" cy="0"/>
            </a:xfrm>
            <a:prstGeom prst="line">
              <a:avLst/>
            </a:prstGeom>
            <a:ln w="50800" cap="flat">
              <a:solidFill>
                <a:srgbClr val="323030">
                  <a:alpha val="69804"/>
                </a:srgbClr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66" name="Group 66"/>
            <p:cNvGrpSpPr/>
            <p:nvPr/>
          </p:nvGrpSpPr>
          <p:grpSpPr>
            <a:xfrm rot="1859663">
              <a:off x="8975185" y="117467"/>
              <a:ext cx="631254" cy="631254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84F"/>
              </a:solidFill>
              <a:ln w="1905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36"/>
                  </a:lnSpc>
                </a:pPr>
                <a:endParaRPr/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10995070" y="472798"/>
            <a:ext cx="7292930" cy="649642"/>
            <a:chOff x="0" y="0"/>
            <a:chExt cx="9723907" cy="866189"/>
          </a:xfrm>
        </p:grpSpPr>
        <p:sp>
          <p:nvSpPr>
            <p:cNvPr id="70" name="AutoShape 70"/>
            <p:cNvSpPr/>
            <p:nvPr/>
          </p:nvSpPr>
          <p:spPr>
            <a:xfrm flipH="1">
              <a:off x="433094" y="433094"/>
              <a:ext cx="9290812" cy="0"/>
            </a:xfrm>
            <a:prstGeom prst="line">
              <a:avLst/>
            </a:prstGeom>
            <a:ln w="50800" cap="flat">
              <a:solidFill>
                <a:srgbClr val="323030">
                  <a:alpha val="69804"/>
                </a:srgbClr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71" name="Group 71"/>
            <p:cNvGrpSpPr/>
            <p:nvPr/>
          </p:nvGrpSpPr>
          <p:grpSpPr>
            <a:xfrm rot="-8940336">
              <a:off x="117467" y="117467"/>
              <a:ext cx="631254" cy="631254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84F"/>
              </a:solidFill>
              <a:ln w="1905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0613" y="2104127"/>
            <a:ext cx="5316512" cy="2212436"/>
            <a:chOff x="0" y="0"/>
            <a:chExt cx="7088683" cy="294991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SLAM</a:t>
                </a: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5744" y="2084608"/>
            <a:ext cx="5316512" cy="2212436"/>
            <a:chOff x="0" y="0"/>
            <a:chExt cx="7088683" cy="294991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BASE PAPER</a:t>
                </a: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6480219" y="4903174"/>
            <a:ext cx="5316512" cy="2212436"/>
            <a:chOff x="0" y="0"/>
            <a:chExt cx="7088683" cy="2949914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MATLAB</a:t>
                </a: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6485744" y="7725209"/>
            <a:ext cx="5316512" cy="2212436"/>
            <a:chOff x="0" y="0"/>
            <a:chExt cx="7088683" cy="2949914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COGNIPILOT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2346995" y="2104127"/>
            <a:ext cx="5316512" cy="2212436"/>
            <a:chOff x="0" y="0"/>
            <a:chExt cx="7088683" cy="2949914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GITHUB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12346995" y="4903174"/>
            <a:ext cx="5316512" cy="2212436"/>
            <a:chOff x="0" y="0"/>
            <a:chExt cx="7088683" cy="294991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GITHUB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430613" y="4903174"/>
            <a:ext cx="5316512" cy="2212436"/>
            <a:chOff x="0" y="0"/>
            <a:chExt cx="7088683" cy="294991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7088683" cy="2949914"/>
              <a:chOff x="0" y="0"/>
              <a:chExt cx="1363319" cy="56733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363319" cy="567337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567337">
                    <a:moveTo>
                      <a:pt x="43686" y="0"/>
                    </a:moveTo>
                    <a:lnTo>
                      <a:pt x="1319633" y="0"/>
                    </a:lnTo>
                    <a:cubicBezTo>
                      <a:pt x="1331219" y="0"/>
                      <a:pt x="1342331" y="4603"/>
                      <a:pt x="1350524" y="12795"/>
                    </a:cubicBezTo>
                    <a:cubicBezTo>
                      <a:pt x="1358716" y="20988"/>
                      <a:pt x="1363319" y="32100"/>
                      <a:pt x="1363319" y="43686"/>
                    </a:cubicBezTo>
                    <a:lnTo>
                      <a:pt x="1363319" y="523651"/>
                    </a:lnTo>
                    <a:cubicBezTo>
                      <a:pt x="1363319" y="547778"/>
                      <a:pt x="1343760" y="567337"/>
                      <a:pt x="1319633" y="567337"/>
                    </a:cubicBezTo>
                    <a:lnTo>
                      <a:pt x="43686" y="567337"/>
                    </a:lnTo>
                    <a:cubicBezTo>
                      <a:pt x="19559" y="567337"/>
                      <a:pt x="0" y="547778"/>
                      <a:pt x="0" y="523651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8F6F4"/>
              </a:solidFill>
              <a:ln w="38100" cap="rnd">
                <a:solidFill>
                  <a:srgbClr val="323030"/>
                </a:solidFill>
                <a:prstDash val="solid"/>
                <a:round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1363319" cy="576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36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0"/>
              <a:ext cx="7088683" cy="917112"/>
              <a:chOff x="0" y="0"/>
              <a:chExt cx="1363319" cy="17638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363319" cy="176382"/>
              </a:xfrm>
              <a:custGeom>
                <a:avLst/>
                <a:gdLst/>
                <a:ahLst/>
                <a:cxnLst/>
                <a:rect l="l" t="t" r="r" b="b"/>
                <a:pathLst>
                  <a:path w="1363319" h="176382">
                    <a:moveTo>
                      <a:pt x="0" y="0"/>
                    </a:moveTo>
                    <a:lnTo>
                      <a:pt x="1363319" y="0"/>
                    </a:lnTo>
                    <a:lnTo>
                      <a:pt x="1363319" y="176382"/>
                    </a:lnTo>
                    <a:lnTo>
                      <a:pt x="0" y="176382"/>
                    </a:lnTo>
                    <a:close/>
                  </a:path>
                </a:pathLst>
              </a:custGeom>
              <a:solidFill>
                <a:srgbClr val="CDBBFF"/>
              </a:solidFill>
              <a:ln w="38100" cap="sq">
                <a:solidFill>
                  <a:srgbClr val="323030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19050"/>
                <a:ext cx="1363319" cy="195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800" b="1" spc="168">
                    <a:solidFill>
                      <a:srgbClr val="323030"/>
                    </a:solidFill>
                    <a:latin typeface="Roboto Condensed Bold"/>
                    <a:ea typeface="Roboto Condensed Bold"/>
                    <a:cs typeface="Roboto Condensed Bold"/>
                    <a:sym typeface="Roboto Condensed Bold"/>
                  </a:rPr>
                  <a:t>ROBOTICS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3071440" y="596608"/>
            <a:ext cx="12145121" cy="128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9799" b="1">
                <a:solidFill>
                  <a:srgbClr val="32303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REFERANCES</a:t>
            </a:r>
          </a:p>
        </p:txBody>
      </p:sp>
      <p:sp>
        <p:nvSpPr>
          <p:cNvPr id="52" name="AutoShape 52"/>
          <p:cNvSpPr/>
          <p:nvPr/>
        </p:nvSpPr>
        <p:spPr>
          <a:xfrm flipV="1">
            <a:off x="-32932" y="1133177"/>
            <a:ext cx="5206202" cy="0"/>
          </a:xfrm>
          <a:prstGeom prst="line">
            <a:avLst/>
          </a:prstGeom>
          <a:ln w="38100" cap="flat">
            <a:solidFill>
              <a:srgbClr val="323030">
                <a:alpha val="69804"/>
              </a:srgbClr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53" name="Group 53"/>
          <p:cNvGrpSpPr/>
          <p:nvPr/>
        </p:nvGrpSpPr>
        <p:grpSpPr>
          <a:xfrm rot="1859663">
            <a:off x="4936549" y="896457"/>
            <a:ext cx="473440" cy="473440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F"/>
            </a:solidFill>
            <a:ln w="1905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sp>
        <p:nvSpPr>
          <p:cNvPr id="56" name="AutoShape 56"/>
          <p:cNvSpPr/>
          <p:nvPr/>
        </p:nvSpPr>
        <p:spPr>
          <a:xfrm flipH="1">
            <a:off x="13103680" y="1133177"/>
            <a:ext cx="5229851" cy="0"/>
          </a:xfrm>
          <a:prstGeom prst="line">
            <a:avLst/>
          </a:prstGeom>
          <a:ln w="38100" cap="flat">
            <a:solidFill>
              <a:srgbClr val="323030">
                <a:alpha val="69804"/>
              </a:srgbClr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57" name="Group 57"/>
          <p:cNvGrpSpPr/>
          <p:nvPr/>
        </p:nvGrpSpPr>
        <p:grpSpPr>
          <a:xfrm rot="-8940336">
            <a:off x="12866959" y="896457"/>
            <a:ext cx="473440" cy="473440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F"/>
            </a:solidFill>
            <a:ln w="19050" cap="sq">
              <a:solidFill>
                <a:srgbClr val="323030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6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74516" y="3124151"/>
            <a:ext cx="5028706" cy="102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>
                <a:solidFill>
                  <a:srgbClr val="323030"/>
                </a:solidFill>
                <a:latin typeface="Arimo"/>
                <a:ea typeface="Arimo"/>
                <a:cs typeface="Arimo"/>
                <a:sym typeface="Arimo"/>
                <a:hlinkClick r:id="rId2" tooltip="https://www.youtube.com/watch?v=gmHnhWYfuW0&amp;t=1s"/>
              </a:rPr>
              <a:t>https://www.youtube.com/watch?v=gmHnhWYfuW0&amp;t=1s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58372" y="2879040"/>
            <a:ext cx="4771256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www.mdpi.com/2504-446X/7/8/516"/>
              </a:rPr>
              <a:t>Automatic Real-Time Creation of Three-Dimensional (3D) Representations of Objects, Buildings, or Scenarios Using Drones and Artificial Intelligence Techniques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619623" y="3098584"/>
            <a:ext cx="477125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github.com/vtalpaert/ros2-phone-sensors"/>
              </a:rPr>
              <a:t>ROS2 Phone sensors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752847" y="8831427"/>
            <a:ext cx="477125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cognipilot.org"/>
              </a:rPr>
              <a:t>Release Overview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619623" y="5958322"/>
            <a:ext cx="477125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6" tooltip="https://github.com/princeton-vl/DROID-SLAM"/>
              </a:rPr>
              <a:t>Droid SLAM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3241" y="5620184"/>
            <a:ext cx="4771256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7" tooltip="https://robotics.stackexchange.com/questions/118150/how-to-communicate-between-ros2-humble-and-ros2-jazzy-seamlessly"/>
              </a:rPr>
              <a:t>How to communicate between ros2 humble and ros2 jazzy seamlessly?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58372" y="5715434"/>
            <a:ext cx="477125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u="sng">
                <a:solidFill>
                  <a:srgbClr val="32303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8" tooltip="https://in.mathworks.com/help/uav/ref/so3.html"/>
              </a:rPr>
              <a:t>SO3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1014</Words>
  <Application>Microsoft Office PowerPoint</Application>
  <PresentationFormat>Custom</PresentationFormat>
  <Paragraphs>158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Roboto</vt:lpstr>
      <vt:lpstr>Roboto Condensed Bold</vt:lpstr>
      <vt:lpstr>Canva Sans Bold</vt:lpstr>
      <vt:lpstr>Roboto Bold</vt:lpstr>
      <vt:lpstr>Arimo</vt:lpstr>
      <vt:lpstr>Calibri</vt:lpstr>
      <vt:lpstr>Arial</vt:lpstr>
      <vt:lpstr>Roboto Condensed</vt:lpstr>
      <vt:lpstr>DM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Drones</dc:title>
  <cp:lastModifiedBy>Akhilan Selvarayar</cp:lastModifiedBy>
  <cp:revision>3</cp:revision>
  <dcterms:created xsi:type="dcterms:W3CDTF">2006-08-16T00:00:00Z</dcterms:created>
  <dcterms:modified xsi:type="dcterms:W3CDTF">2026-08-17T04:50:12Z</dcterms:modified>
  <dc:identifier>DAHSXgVAyTM</dc:identifier>
</cp:coreProperties>
</file>